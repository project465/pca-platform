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notesMasterIdLst>
    <p:notesMasterId r:id="rId17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소개" id="{1f6edb8c-20a1-6639-57c8-2d5be257fd11}">
          <p14:sldIdLst>
            <p14:sldId id="256"/>
            <p14:sldId id="257"/>
            <p14:sldId id="258"/>
            <p14:sldId id="259"/>
          </p14:sldIdLst>
        </p14:section>
        <p14:section name="전주대 구성" id="{56110f19-db2f-6dbd-9b38-f8e0b9708b21}">
          <p14:sldIdLst>
            <p14:sldId id="260"/>
            <p14:sldId id="261"/>
          </p14:sldIdLst>
        </p14:section>
        <p14:section name="화면" id="{0269a69c-fd09-936c-ac24-8a2f88a54bbe}">
          <p14:sldIdLst>
            <p14:sldId id="262"/>
            <p14:sldId id="263"/>
            <p14:sldId id="264"/>
          </p14:sldIdLst>
        </p14:section>
        <p14:section name="담당자" id="{5e997f13-1d71-510b-2f7a-f4ef41f64b16}">
          <p14:sldIdLst>
            <p14:sldId id="265"/>
            <p14:sldId id="266"/>
            <p14:sldId id="267"/>
          </p14:sldIdLst>
        </p14:section>
        <p14:section name="제안" id="{b823ce82-baee-0bfa-febe-289e40645fa5}">
          <p14:sldIdLst>
            <p14:sldId id="268"/>
            <p14:sldId id="269"/>
            <p14:sldId id="270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notesMaster" Target="notesMasters/notesMaster1.xml"/><Relationship Id="rId18" Type="http://schemas.openxmlformats.org/officeDocument/2006/relationships/presProps" Target="presProps.xml"/><Relationship Id="rId19" Type="http://schemas.openxmlformats.org/officeDocument/2006/relationships/viewProps" Target="viewProps.xml"/><Relationship Id="rId20" Type="http://schemas.openxmlformats.org/officeDocument/2006/relationships/theme" Target="theme/theme1.xml"/><Relationship Id="rId2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CareerMatri 를 전주대학교 인공지능학부와 첨단산업인재양성부트캠프사업단에 소개하는 자료입니다. 오른쪽 두 화면은 실제 제품 화면(전주대 학생 입구, 학생 작업공간)입니다.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숫자나 조사 결과를 들지 않고, 진로 상담에서 흔히 듣는 세 가지 어려움으로 이야기를 엽니다. 교수님께 인공지능학부 학생들이 실제로 어디서 막히는지 여쭤 보면 좋습니다.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세 기둥은 학교 입구 화면에 적힌 설명(전공 기준 분석, 실제 경험 확인, 다음 행동 제안)과 같은 내용입니다. 성향 유형 검사가 아니라 전공 경험을 묻는 검사라는 점을 먼저 말씀드립니다.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학교 진입은 서버가 늘 PRO 로 엽니다(개인 구매처럼 BASIC/STANDARD/PRO 를 고르지 않음). 학생 화면에는 등급 이름이 나오지 않습니다.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등록부(campus-universities.json) 기준: 인공지능학부 = JJU26_AI, 부트캠프 = BOOTCAMP / JJU26_BOOTCAMP_AI, 둘 다 CS_CORE_V1 의 SPEC_CS_AI. 인공지능학부의 정식 이름과 소속 단과대학은 학교 확인이 필요한 항목으로 적혀 있습니다(마지막 장 질문).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파란 글씨는 인공지능·데이터 갈래에서 먼저 보여 주는 산업과 역할입니다. 산업·역할 선택은 Core 판정을 바꾸지 않고, 고르지 않은 산업·역할도 결과에서 둘러볼 수 있습니다. 근거: cs-v1-taxonomy.json, cs-industry-packs.json, cs-role-packs.json, major-cores.json(SPEC_CS_AI).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2026-10-21 확인 기준, 운영 주소 app.careermatri.com/campus/jju 는 아직 열려 있지 않습니다(응답 404). 시범 운영을 시작할 때 엽니다. 화면은 같은 코드를 로컬에서 띄워 찍은 것입니다.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결과지에는 등수, 백분위, 합격 가능성이 없습니다. 지원서와 면접에서 그 경험을 꺼내는 자리(무엇을 묻는 자리인가)까지 적고, 답을 대신 써 주지는 않습니다.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경험 추가와 현재 상태 갱신은 구독 없이 쓸 수 있습니다(학교 제공 범위).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화면의 숫자(대상자 8명 등)는 로컬 시험 데이터입니다. 5명이 안 되는 칸은 숫자를 만들지 않으므로 학과별 표는 비어 보입니다.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담당자는 자기 학교 학생에게만 손댈 수 있습니다(역할과 기관 범위를 함께 확인). 비밀번호는 DB 에도 로그에도 남지 않고 발급 화면에서 한 번만 보입니다.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'검증된 검사' 라고 말하지 않습니다. 열려 있다는 것이 validated 를 뜻하지 않고, 규준·백분위·적합도 %·합격 가능성을 내지 않습니다. 법적 범위는 노무사·행정사 확인을 거치는 중인 내부 정리입니다.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가격은 db/schema_track.sql 의 TRACK_30D(4,900원)·TRACK_365D(39,000원), 자동 갱신 없음. 'AI 취업비서' 화면 이름과 네 기능은 저장소 작업본(src/app/me/track/page.tsx, 아직 커밋 전)에 있는 내용입니다. 공고는 우리가 고르지 않고 학생이 직접 찾아 붙여 넣으며 지원도 학생이 직접 합니다(법적 범위). 주간 알림 메일은 학생이 켤 때만 갑니다.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일정과 비용은 정해진 값이 없어 '협의' 로 둡니다. 학교 응시는 PRO 한 벌로 열리므로 등급을 고르는 이야기는 하지 않아도 됩니다.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질문 2·3은 등록부의 open_questions 에 확인 필요로 적혀 있는 항목입니다. 답을 받으면 학과 목록을 고쳐 학생 계정 발급 전에 반영합니다.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02-1.png"/><Relationship Id="rId2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03-1.png"/><Relationship Id="rId2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bg>
      <p:bgPr>
        <a:solidFill>
          <a:schemeClr val="bg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329184"/>
            <a:ext cx="11094415" cy="292608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1300" b="1" dirty="0">
                <a:solidFill>
                  <a:schemeClr val="accent1"/>
                </a:solidFill>
              </a:defRPr>
            </a:lvl1pPr>
          </a:lstStyle>
          <a:p>
            <a:pPr indent="0" marL="0">
              <a:buNone/>
            </a:pPr>
            <a:endParaRPr lang="en-US" sz="13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603504"/>
            <a:ext cx="11094415" cy="713232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400" b="1" dirty="0">
                <a:solidFill>
                  <a:schemeClr val="tx1"/>
                </a:solidFill>
              </a:defRPr>
            </a:lvl1pPr>
          </a:lstStyle>
          <a:p>
            <a:pPr algn="l" indent="0" marL="0">
              <a:buNone/>
            </a:pPr>
            <a:endParaRPr lang="en-US" sz="340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6400800"/>
            <a:ext cx="182880" cy="182880"/>
          </a:xfrm>
          <a:prstGeom prst="rect">
            <a:avLst/>
          </a:prstGeom>
        </p:spPr>
      </p:pic>
      <p:sp>
        <p:nvSpPr>
          <p:cNvPr id="5" name="Text 0"/>
          <p:cNvSpPr/>
          <p:nvPr/>
        </p:nvSpPr>
        <p:spPr>
          <a:xfrm>
            <a:off x="822960" y="6364224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ko-KR" altLang="en-US" sz="1000" dirty="0">
                <a:solidFill>
                  <a:schemeClr val="accent3"/>
                </a:solidFill>
              </a:rPr>
              <a:t>CareerMatri × 전주대학교 · 2026년 10월</a:t>
            </a:r>
            <a:endParaRPr lang="ko-KR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364224"/>
            <a:ext cx="54864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3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1002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ARK">
    <p:bg>
      <p:bgPr>
        <a:solidFill>
          <a:schemeClr val="tx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329184"/>
            <a:ext cx="11094415" cy="292608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1300" b="1" dirty="0">
                <a:solidFill>
                  <a:schemeClr val="accent5"/>
                </a:solidFill>
              </a:defRPr>
            </a:lvl1pPr>
          </a:lstStyle>
          <a:p>
            <a:pPr indent="0" marL="0">
              <a:buNone/>
            </a:pPr>
            <a:endParaRPr lang="en-US" sz="13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603504"/>
            <a:ext cx="11094415" cy="713232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400" b="1" dirty="0">
                <a:solidFill>
                  <a:schemeClr val="bg1"/>
                </a:solidFill>
              </a:defRPr>
            </a:lvl1pPr>
          </a:lstStyle>
          <a:p>
            <a:pPr algn="l" indent="0" marL="0">
              <a:buNone/>
            </a:pPr>
            <a:endParaRPr lang="en-US" sz="340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6400800"/>
            <a:ext cx="182880" cy="182880"/>
          </a:xfrm>
          <a:prstGeom prst="rect">
            <a:avLst/>
          </a:prstGeom>
        </p:spPr>
      </p:pic>
      <p:sp>
        <p:nvSpPr>
          <p:cNvPr id="5" name="Text 0"/>
          <p:cNvSpPr/>
          <p:nvPr/>
        </p:nvSpPr>
        <p:spPr>
          <a:xfrm>
            <a:off x="822960" y="6364224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ko-KR" altLang="en-US" sz="1000" dirty="0">
                <a:solidFill>
                  <a:schemeClr val="accent5"/>
                </a:solidFill>
              </a:rPr>
              <a:t>CareerMatri × 전주대학교 · 2026년 10월</a:t>
            </a:r>
            <a:endParaRPr lang="ko-KR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364224"/>
            <a:ext cx="54864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VER">
    <p:bg>
      <p:bgPr>
        <a:solidFill>
          <a:schemeClr val="tx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2148840"/>
            <a:ext cx="6035040" cy="173736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400" b="1" dirty="0">
                <a:solidFill>
                  <a:schemeClr val="bg1"/>
                </a:solidFill>
              </a:defRPr>
            </a:lvl1pPr>
          </a:lstStyle>
          <a:p>
            <a:pPr algn="l" indent="0" marL="0">
              <a:buNone/>
            </a:pPr>
            <a:endParaRPr lang="en-US" sz="44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548640" y="4023360"/>
            <a:ext cx="5852160" cy="82296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2000" dirty="0">
                <a:solidFill>
                  <a:schemeClr val="accent5"/>
                </a:solidFill>
              </a:defRPr>
            </a:lvl1pPr>
          </a:lstStyle>
          <a:p>
            <a:pPr indent="0" marL="0">
              <a:buNone/>
            </a:pPr>
            <a:endParaRPr lang="en-US" sz="2000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364224"/>
            <a:ext cx="54864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3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slideLayout" Target="../slideLayouts/slideLayout4.xml"/><Relationship Id="rId5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slideLayout" Target="../slideLayouts/slideLayout2.xml"/><Relationship Id="rId5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slideLayout" Target="../slideLayouts/slideLayout3.xml"/><Relationship Id="rId5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slideLayout" Target="../slideLayouts/slideLayout2.xml"/><Relationship Id="rId5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image" Target="../media/image-8-4.png"/><Relationship Id="rId5" Type="http://schemas.openxmlformats.org/officeDocument/2006/relationships/slideLayout" Target="../slideLayouts/slideLayout2.xml"/><Relationship Id="rId6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image" Target="../media/image-10-3.png"/><Relationship Id="rId4" Type="http://schemas.openxmlformats.org/officeDocument/2006/relationships/image" Target="../media/image-10-4.png"/><Relationship Id="rId5" Type="http://schemas.openxmlformats.org/officeDocument/2006/relationships/slideLayout" Target="../slideLayouts/slideLayout2.xml"/><Relationship Id="rId6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image" Target="../media/image-12-2.png"/><Relationship Id="rId3" Type="http://schemas.openxmlformats.org/officeDocument/2006/relationships/image" Target="../media/image-12-3.png"/><Relationship Id="rId4" Type="http://schemas.openxmlformats.org/officeDocument/2006/relationships/image" Target="../media/image-12-4.png"/><Relationship Id="rId5" Type="http://schemas.openxmlformats.org/officeDocument/2006/relationships/image" Target="../media/image-12-5.png"/><Relationship Id="rId6" Type="http://schemas.openxmlformats.org/officeDocument/2006/relationships/image" Target="../media/image-12-6.png"/><Relationship Id="rId7" Type="http://schemas.openxmlformats.org/officeDocument/2006/relationships/slideLayout" Target="../slideLayouts/slideLayout2.xml"/><Relationship Id="rId8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image" Target="../media/image-13-2.png"/><Relationship Id="rId3" Type="http://schemas.openxmlformats.org/officeDocument/2006/relationships/image" Target="../media/image-13-3.png"/><Relationship Id="rId4" Type="http://schemas.openxmlformats.org/officeDocument/2006/relationships/image" Target="../media/image-13-4.png"/><Relationship Id="rId5" Type="http://schemas.openxmlformats.org/officeDocument/2006/relationships/slideLayout" Target="../slideLayouts/slideLayout2.xml"/><Relationship Id="rId6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logo-mark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566928"/>
            <a:ext cx="512064" cy="512064"/>
          </a:xfrm>
          <a:prstGeom prst="rect">
            <a:avLst/>
          </a:prstGeom>
        </p:spPr>
      </p:pic>
      <p:sp>
        <p:nvSpPr>
          <p:cNvPr id="3" name="text-1"/>
          <p:cNvSpPr txBox="1"/>
          <p:nvPr/>
        </p:nvSpPr>
        <p:spPr>
          <a:xfrm>
            <a:off x="1207008" y="566928"/>
            <a:ext cx="36576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ko-KR" altLang="en-US" sz="2200" b="1" dirty="0">
                <a:solidFill>
                  <a:schemeClr val="bg1"/>
                </a:solidFill>
              </a:rPr>
              <a:t>CareerMatri</a:t>
            </a:r>
            <a:endParaRPr lang="ko-KR" sz="2200" dirty="0"/>
          </a:p>
        </p:txBody>
      </p:sp>
      <p:sp>
        <p:nvSpPr>
          <p:cNvPr id="4" name="text-2"/>
          <p:cNvSpPr txBox="1"/>
          <p:nvPr/>
        </p:nvSpPr>
        <p:spPr>
          <a:xfrm>
            <a:off x="548640" y="1691640"/>
            <a:ext cx="54864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ko-KR" altLang="en-US" sz="1500" b="1" dirty="0">
                <a:solidFill>
                  <a:schemeClr val="accent5"/>
                </a:solidFill>
              </a:rPr>
              <a:t>전주대학교 미팅 자료</a:t>
            </a:r>
            <a:endParaRPr lang="ko-KR" sz="1500" dirty="0"/>
          </a:p>
        </p:txBody>
      </p:sp>
      <p:sp>
        <p:nvSpPr>
          <p:cNvPr id="5" name="Text 0"/>
          <p:cNvSpPr/>
          <p:nvPr>
            <p:ph idx="100" type="title" hasCustomPrompt="1"/>
          </p:nvPr>
        </p:nvSpPr>
        <p:spPr>
          <a:xfrm>
            <a:off x="548640" y="2148840"/>
            <a:ext cx="603504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ko-KR" altLang="en-US" sz="4400" b="1" dirty="0">
                <a:solidFill>
                  <a:schemeClr val="bg1"/>
                </a:solidFill>
              </a:rPr>
              <a:t>CareerMatri ×</a:t>
            </a:r>
            <a:endParaRPr lang="ko-KR" sz="4400" dirty="0"/>
          </a:p>
          <a:p>
            <a:pPr algn="l" indent="0" marL="0">
              <a:buNone/>
            </a:pPr>
            <a:r>
              <a:rPr lang="ko-KR" altLang="en-US" sz="4400" b="1" dirty="0">
                <a:solidFill>
                  <a:schemeClr val="bg1"/>
                </a:solidFill>
              </a:rPr>
              <a:t>전주대학교</a:t>
            </a:r>
            <a:endParaRPr lang="ko-KR" sz="4400" dirty="0"/>
          </a:p>
        </p:txBody>
      </p:sp>
      <p:sp>
        <p:nvSpPr>
          <p:cNvPr id="6" name="Text 0"/>
          <p:cNvSpPr/>
          <p:nvPr>
            <p:ph idx="101" type="body" hasCustomPrompt="1"/>
          </p:nvPr>
        </p:nvSpPr>
        <p:spPr>
          <a:xfrm>
            <a:off x="548640" y="4023360"/>
            <a:ext cx="58521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ko-KR" altLang="en-US" sz="2000" dirty="0">
                <a:solidFill>
                  <a:schemeClr val="accent5"/>
                </a:solidFill>
              </a:rPr>
              <a:t>전공 기반 진로 진단과 경험 정리 작업공간</a:t>
            </a:r>
            <a:endParaRPr lang="ko-KR" sz="2000" dirty="0"/>
          </a:p>
        </p:txBody>
      </p:sp>
      <p:sp>
        <p:nvSpPr>
          <p:cNvPr id="7" name="text-3"/>
          <p:cNvSpPr txBox="1"/>
          <p:nvPr/>
        </p:nvSpPr>
        <p:spPr>
          <a:xfrm>
            <a:off x="548640" y="5577840"/>
            <a:ext cx="58521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ko-KR" altLang="en-US" sz="1500" b="1" dirty="0">
                <a:solidFill>
                  <a:schemeClr val="bg1"/>
                </a:solidFill>
              </a:rPr>
              <a:t>설남오 교수님 미팅 · 2026년 10월</a:t>
            </a:r>
            <a:endParaRPr lang="ko-KR" sz="1500" dirty="0"/>
          </a:p>
        </p:txBody>
      </p:sp>
      <p:sp>
        <p:nvSpPr>
          <p:cNvPr id="8" name="text-4"/>
          <p:cNvSpPr txBox="1"/>
          <p:nvPr/>
        </p:nvSpPr>
        <p:spPr>
          <a:xfrm>
            <a:off x="548640" y="5925312"/>
            <a:ext cx="5852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ko-KR" altLang="en-US" sz="1200" dirty="0">
                <a:solidFill>
                  <a:schemeClr val="accent5"/>
                </a:solidFill>
              </a:rPr>
              <a:t>주식회사 에이치에이연구원</a:t>
            </a:r>
            <a:endParaRPr lang="ko-KR" sz="1200" dirty="0"/>
          </a:p>
        </p:txBody>
      </p:sp>
      <p:sp>
        <p:nvSpPr>
          <p:cNvPr id="9" name="cover-frame-1"/>
          <p:cNvSpPr/>
          <p:nvPr/>
        </p:nvSpPr>
        <p:spPr>
          <a:xfrm>
            <a:off x="6830568" y="1344168"/>
            <a:ext cx="4901184" cy="2647556"/>
          </a:xfrm>
          <a:prstGeom prst="roundRect">
            <a:avLst>
              <a:gd name="adj" fmla="val 4145"/>
            </a:avLst>
          </a:prstGeom>
          <a:solidFill>
            <a:schemeClr val="accent4"/>
          </a:solidFill>
          <a:ln/>
        </p:spPr>
      </p:sp>
      <p:pic>
        <p:nvPicPr>
          <p:cNvPr id="10" name="cover-shot-campus" descr="/tmp/claude-0/-home-user/bc48fe73-cdf5-5b66-955c-b28a8a6207a5/scratchpad/shots/s_campus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03720" y="1417320"/>
            <a:ext cx="4754880" cy="2501252"/>
          </a:xfrm>
          <a:prstGeom prst="rect">
            <a:avLst/>
          </a:prstGeom>
        </p:spPr>
      </p:pic>
      <p:sp>
        <p:nvSpPr>
          <p:cNvPr id="11" name="cover-frame-2"/>
          <p:cNvSpPr/>
          <p:nvPr/>
        </p:nvSpPr>
        <p:spPr>
          <a:xfrm>
            <a:off x="7744968" y="4165460"/>
            <a:ext cx="3986784" cy="2412074"/>
          </a:xfrm>
          <a:prstGeom prst="roundRect">
            <a:avLst>
              <a:gd name="adj" fmla="val 4549"/>
            </a:avLst>
          </a:prstGeom>
          <a:solidFill>
            <a:schemeClr val="accent4"/>
          </a:solidFill>
          <a:ln/>
        </p:spPr>
      </p:sp>
      <p:pic>
        <p:nvPicPr>
          <p:cNvPr id="12" name="cover-shot-me" descr="/tmp/claude-0/-home-user/bc48fe73-cdf5-5b66-955c-b28a8a6207a5/scratchpad/shots/s_me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18120" y="4238612"/>
            <a:ext cx="3840480" cy="226577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329184"/>
            <a:ext cx="1109441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ko-KR" altLang="en-US" sz="1300" b="1" dirty="0">
                <a:solidFill>
                  <a:schemeClr val="accent1"/>
                </a:solidFill>
              </a:rPr>
              <a:t>학생들이 막히는 지점</a:t>
            </a:r>
            <a:endParaRPr lang="ko-KR" sz="13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603504"/>
            <a:ext cx="11094415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ko-KR" altLang="en-US" sz="3400" b="1" dirty="0">
                <a:solidFill>
                  <a:schemeClr val="tx1"/>
                </a:solidFill>
              </a:rPr>
              <a:t>해 본 일은 있는데, 말로 옮기기 어렵습니다</a:t>
            </a:r>
            <a:endParaRPr lang="ko-KR" sz="3400" dirty="0"/>
          </a:p>
        </p:txBody>
      </p:sp>
      <p:sp>
        <p:nvSpPr>
          <p:cNvPr id="4" name="card-5"/>
          <p:cNvSpPr/>
          <p:nvPr/>
        </p:nvSpPr>
        <p:spPr>
          <a:xfrm>
            <a:off x="548640" y="1783080"/>
            <a:ext cx="3454298" cy="3931920"/>
          </a:xfrm>
          <a:prstGeom prst="roundRect">
            <a:avLst>
              <a:gd name="adj" fmla="val 3706"/>
            </a:avLst>
          </a:prstGeom>
          <a:solidFill>
            <a:schemeClr val="bg1"/>
          </a:solidFill>
          <a:ln w="9525">
            <a:solidFill>
              <a:srgbClr val="E1E7F2"/>
            </a:solidFill>
            <a:prstDash val="solid"/>
          </a:ln>
          <a:effectLst>
            <a:outerShdw sx="100000" sy="100000" kx="0" ky="0" algn="bl" rotWithShape="0" blurRad="127000" dist="25400" dir="5400000">
              <a:srgbClr val="0B1B33">
                <a:alpha val="10000"/>
              </a:srgbClr>
            </a:outerShdw>
          </a:effectLst>
        </p:spPr>
      </p:sp>
      <p:sp>
        <p:nvSpPr>
          <p:cNvPr id="5" name="badge-6"/>
          <p:cNvSpPr/>
          <p:nvPr/>
        </p:nvSpPr>
        <p:spPr>
          <a:xfrm>
            <a:off x="868680" y="2148840"/>
            <a:ext cx="640080" cy="640080"/>
          </a:xfrm>
          <a:prstGeom prst="roundRect">
            <a:avLst>
              <a:gd name="adj" fmla="val 28000"/>
            </a:avLst>
          </a:prstGeom>
          <a:solidFill>
            <a:schemeClr val="accent1"/>
          </a:solidFill>
          <a:ln/>
        </p:spPr>
      </p:sp>
      <p:pic>
        <p:nvPicPr>
          <p:cNvPr id="6" name="icon-7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09498" y="2289658"/>
            <a:ext cx="358445" cy="358445"/>
          </a:xfrm>
          <a:prstGeom prst="rect">
            <a:avLst/>
          </a:prstGeom>
        </p:spPr>
      </p:pic>
      <p:sp>
        <p:nvSpPr>
          <p:cNvPr id="7" name="text-8"/>
          <p:cNvSpPr txBox="1"/>
          <p:nvPr/>
        </p:nvSpPr>
        <p:spPr>
          <a:xfrm>
            <a:off x="868680" y="3017520"/>
            <a:ext cx="2814218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ko-KR" altLang="en-US" sz="1900" b="1" dirty="0">
                <a:solidFill>
                  <a:schemeClr val="tx1"/>
                </a:solidFill>
              </a:rPr>
              <a:t>경험을 지원서 문장으로 옮기기 어렵다</a:t>
            </a:r>
            <a:endParaRPr lang="ko-KR" sz="1900" dirty="0"/>
          </a:p>
        </p:txBody>
      </p:sp>
      <p:sp>
        <p:nvSpPr>
          <p:cNvPr id="8" name="text-9"/>
          <p:cNvSpPr txBox="1"/>
          <p:nvPr/>
        </p:nvSpPr>
        <p:spPr>
          <a:xfrm>
            <a:off x="868680" y="3931920"/>
            <a:ext cx="2814218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ko-KR" altLang="en-US" sz="1400" dirty="0">
                <a:solidFill>
                  <a:schemeClr val="accent3"/>
                </a:solidFill>
              </a:rPr>
              <a:t>수업 과제, 팀 프로젝트, 캡스톤을 했어도 그중 무엇을 내가 정했고 무엇이 남았는지 정리해 둔 학생은 많지 않습니다.</a:t>
            </a:r>
            <a:endParaRPr lang="ko-KR" sz="1400" dirty="0"/>
          </a:p>
        </p:txBody>
      </p:sp>
      <p:sp>
        <p:nvSpPr>
          <p:cNvPr id="9" name="card-10"/>
          <p:cNvSpPr/>
          <p:nvPr/>
        </p:nvSpPr>
        <p:spPr>
          <a:xfrm>
            <a:off x="4368698" y="1783080"/>
            <a:ext cx="3454298" cy="3931920"/>
          </a:xfrm>
          <a:prstGeom prst="roundRect">
            <a:avLst>
              <a:gd name="adj" fmla="val 3706"/>
            </a:avLst>
          </a:prstGeom>
          <a:solidFill>
            <a:schemeClr val="bg1"/>
          </a:solidFill>
          <a:ln w="9525">
            <a:solidFill>
              <a:srgbClr val="E1E7F2"/>
            </a:solidFill>
            <a:prstDash val="solid"/>
          </a:ln>
          <a:effectLst>
            <a:outerShdw sx="100000" sy="100000" kx="0" ky="0" algn="bl" rotWithShape="0" blurRad="127000" dist="25400" dir="5400000">
              <a:srgbClr val="0B1B33">
                <a:alpha val="10000"/>
              </a:srgbClr>
            </a:outerShdw>
          </a:effectLst>
        </p:spPr>
      </p:sp>
      <p:sp>
        <p:nvSpPr>
          <p:cNvPr id="10" name="badge-11"/>
          <p:cNvSpPr/>
          <p:nvPr/>
        </p:nvSpPr>
        <p:spPr>
          <a:xfrm>
            <a:off x="4688738" y="2148840"/>
            <a:ext cx="640080" cy="640080"/>
          </a:xfrm>
          <a:prstGeom prst="roundRect">
            <a:avLst>
              <a:gd name="adj" fmla="val 28000"/>
            </a:avLst>
          </a:prstGeom>
          <a:solidFill>
            <a:schemeClr val="accent1"/>
          </a:solidFill>
          <a:ln/>
        </p:spPr>
      </p:sp>
      <p:pic>
        <p:nvPicPr>
          <p:cNvPr id="11" name="icon-12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29556" y="2289658"/>
            <a:ext cx="358445" cy="358445"/>
          </a:xfrm>
          <a:prstGeom prst="rect">
            <a:avLst/>
          </a:prstGeom>
        </p:spPr>
      </p:pic>
      <p:sp>
        <p:nvSpPr>
          <p:cNvPr id="12" name="text-13"/>
          <p:cNvSpPr txBox="1"/>
          <p:nvPr/>
        </p:nvSpPr>
        <p:spPr>
          <a:xfrm>
            <a:off x="4688738" y="3017520"/>
            <a:ext cx="2814218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ko-KR" altLang="en-US" sz="1900" b="1" dirty="0">
                <a:solidFill>
                  <a:schemeClr val="tx1"/>
                </a:solidFill>
              </a:rPr>
              <a:t>전공이 어느 산업·직무로 이어지는지 모른다</a:t>
            </a:r>
            <a:endParaRPr lang="ko-KR" sz="1900" dirty="0"/>
          </a:p>
        </p:txBody>
      </p:sp>
      <p:sp>
        <p:nvSpPr>
          <p:cNvPr id="13" name="text-14"/>
          <p:cNvSpPr txBox="1"/>
          <p:nvPr/>
        </p:nvSpPr>
        <p:spPr>
          <a:xfrm>
            <a:off x="4688738" y="3931920"/>
            <a:ext cx="2814218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ko-KR" altLang="en-US" sz="1400" dirty="0">
                <a:solidFill>
                  <a:schemeClr val="accent3"/>
                </a:solidFill>
              </a:rPr>
              <a:t>같은 컴퓨터·소프트웨어 전공이라도 플랫폼, 의료 정보, 모빌리티처럼 산업마다 먼저 보는 경험이 다릅니다.</a:t>
            </a:r>
            <a:endParaRPr lang="ko-KR" sz="1400" dirty="0"/>
          </a:p>
        </p:txBody>
      </p:sp>
      <p:sp>
        <p:nvSpPr>
          <p:cNvPr id="14" name="card-15"/>
          <p:cNvSpPr/>
          <p:nvPr/>
        </p:nvSpPr>
        <p:spPr>
          <a:xfrm>
            <a:off x="8188757" y="1783080"/>
            <a:ext cx="3454298" cy="3931920"/>
          </a:xfrm>
          <a:prstGeom prst="roundRect">
            <a:avLst>
              <a:gd name="adj" fmla="val 3706"/>
            </a:avLst>
          </a:prstGeom>
          <a:solidFill>
            <a:schemeClr val="bg1"/>
          </a:solidFill>
          <a:ln w="9525">
            <a:solidFill>
              <a:srgbClr val="E1E7F2"/>
            </a:solidFill>
            <a:prstDash val="solid"/>
          </a:ln>
          <a:effectLst>
            <a:outerShdw sx="100000" sy="100000" kx="0" ky="0" algn="bl" rotWithShape="0" blurRad="127000" dist="25400" dir="5400000">
              <a:srgbClr val="0B1B33">
                <a:alpha val="10000"/>
              </a:srgbClr>
            </a:outerShdw>
          </a:effectLst>
        </p:spPr>
      </p:sp>
      <p:sp>
        <p:nvSpPr>
          <p:cNvPr id="15" name="badge-16"/>
          <p:cNvSpPr/>
          <p:nvPr/>
        </p:nvSpPr>
        <p:spPr>
          <a:xfrm>
            <a:off x="8508797" y="2148840"/>
            <a:ext cx="640080" cy="640080"/>
          </a:xfrm>
          <a:prstGeom prst="roundRect">
            <a:avLst>
              <a:gd name="adj" fmla="val 28000"/>
            </a:avLst>
          </a:prstGeom>
          <a:solidFill>
            <a:schemeClr val="accent1"/>
          </a:solidFill>
          <a:ln/>
        </p:spPr>
      </p:sp>
      <p:pic>
        <p:nvPicPr>
          <p:cNvPr id="16" name="icon-17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49614" y="2289658"/>
            <a:ext cx="358445" cy="358445"/>
          </a:xfrm>
          <a:prstGeom prst="rect">
            <a:avLst/>
          </a:prstGeom>
        </p:spPr>
      </p:pic>
      <p:sp>
        <p:nvSpPr>
          <p:cNvPr id="17" name="text-18"/>
          <p:cNvSpPr txBox="1"/>
          <p:nvPr/>
        </p:nvSpPr>
        <p:spPr>
          <a:xfrm>
            <a:off x="8508797" y="3017520"/>
            <a:ext cx="2814218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ko-KR" altLang="en-US" sz="1900" b="1" dirty="0">
                <a:solidFill>
                  <a:schemeClr val="tx1"/>
                </a:solidFill>
              </a:rPr>
              <a:t>검사를 받아도 다음 할 일이 남지 않는다</a:t>
            </a:r>
            <a:endParaRPr lang="ko-KR" sz="1900" dirty="0"/>
          </a:p>
        </p:txBody>
      </p:sp>
      <p:sp>
        <p:nvSpPr>
          <p:cNvPr id="18" name="text-19"/>
          <p:cNvSpPr txBox="1"/>
          <p:nvPr/>
        </p:nvSpPr>
        <p:spPr>
          <a:xfrm>
            <a:off x="8508797" y="3931920"/>
            <a:ext cx="2814218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ko-KR" altLang="en-US" sz="1400" dirty="0">
                <a:solidFill>
                  <a:schemeClr val="accent3"/>
                </a:solidFill>
              </a:rPr>
              <a:t>유형 이름이나 점수만 받으면 다음 학기에 무엇을 해 보고 무엇을 기록해야 할지 이어지지 않습니다.</a:t>
            </a:r>
            <a:endParaRPr lang="ko-KR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364224"/>
            <a:ext cx="54864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3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329184"/>
            <a:ext cx="1109441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ko-KR" altLang="en-US" sz="1300" b="1" dirty="0">
                <a:solidFill>
                  <a:schemeClr val="accent5"/>
                </a:solidFill>
              </a:rPr>
              <a:t>CareerMatri 소개</a:t>
            </a:r>
            <a:endParaRPr lang="ko-KR" sz="13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603504"/>
            <a:ext cx="11094415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ko-KR" altLang="en-US" sz="3400" b="1" dirty="0">
                <a:solidFill>
                  <a:schemeClr val="bg1"/>
                </a:solidFill>
              </a:rPr>
              <a:t>전공에서 해 본 일을 근거로 남기는 진로 진단</a:t>
            </a:r>
            <a:endParaRPr lang="ko-KR" sz="3400" dirty="0"/>
          </a:p>
        </p:txBody>
      </p:sp>
      <p:sp>
        <p:nvSpPr>
          <p:cNvPr id="4" name="text-20"/>
          <p:cNvSpPr txBox="1"/>
          <p:nvPr/>
        </p:nvSpPr>
        <p:spPr>
          <a:xfrm>
            <a:off x="548640" y="1600200"/>
            <a:ext cx="96926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ko-KR" altLang="en-US" sz="2000" dirty="0">
                <a:solidFill>
                  <a:schemeClr val="bg1"/>
                </a:solidFill>
              </a:rPr>
              <a:t>학과를 고르면 그 전공이 실제로 다루는 영역으로 묻고, 확인된 경험과 다음 할 일을 결과지와 작업공간에 남깁니다.</a:t>
            </a:r>
            <a:endParaRPr lang="ko-KR" sz="2000" dirty="0"/>
          </a:p>
        </p:txBody>
      </p:sp>
      <p:sp>
        <p:nvSpPr>
          <p:cNvPr id="5" name="card-21"/>
          <p:cNvSpPr/>
          <p:nvPr/>
        </p:nvSpPr>
        <p:spPr>
          <a:xfrm>
            <a:off x="548640" y="2971800"/>
            <a:ext cx="3454298" cy="2880360"/>
          </a:xfrm>
          <a:prstGeom prst="roundRect">
            <a:avLst>
              <a:gd name="adj" fmla="val 4444"/>
            </a:avLst>
          </a:prstGeom>
          <a:solidFill>
            <a:schemeClr val="accent4"/>
          </a:solidFill>
          <a:ln/>
        </p:spPr>
      </p:sp>
      <p:sp>
        <p:nvSpPr>
          <p:cNvPr id="6" name="badge-22"/>
          <p:cNvSpPr/>
          <p:nvPr/>
        </p:nvSpPr>
        <p:spPr>
          <a:xfrm>
            <a:off x="868680" y="3319272"/>
            <a:ext cx="566928" cy="566928"/>
          </a:xfrm>
          <a:prstGeom prst="roundRect">
            <a:avLst>
              <a:gd name="adj" fmla="val 28000"/>
            </a:avLst>
          </a:prstGeom>
          <a:solidFill>
            <a:schemeClr val="accent1"/>
          </a:solidFill>
          <a:ln/>
        </p:spPr>
      </p:sp>
      <p:pic>
        <p:nvPicPr>
          <p:cNvPr id="7" name="icon-23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93404" y="3443996"/>
            <a:ext cx="317480" cy="317480"/>
          </a:xfrm>
          <a:prstGeom prst="rect">
            <a:avLst/>
          </a:prstGeom>
        </p:spPr>
      </p:pic>
      <p:sp>
        <p:nvSpPr>
          <p:cNvPr id="8" name="text-24"/>
          <p:cNvSpPr txBox="1"/>
          <p:nvPr/>
        </p:nvSpPr>
        <p:spPr>
          <a:xfrm>
            <a:off x="868680" y="4069080"/>
            <a:ext cx="281421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ko-KR" altLang="en-US" sz="2000" b="1" dirty="0">
                <a:solidFill>
                  <a:schemeClr val="bg1"/>
                </a:solidFill>
              </a:rPr>
              <a:t>전공 기준</a:t>
            </a:r>
            <a:endParaRPr lang="ko-KR" sz="2000" dirty="0"/>
          </a:p>
        </p:txBody>
      </p:sp>
      <p:sp>
        <p:nvSpPr>
          <p:cNvPr id="9" name="text-25"/>
          <p:cNvSpPr txBox="1"/>
          <p:nvPr/>
        </p:nvSpPr>
        <p:spPr>
          <a:xfrm>
            <a:off x="868680" y="4572000"/>
            <a:ext cx="2814218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ko-KR" altLang="en-US" sz="1400" dirty="0">
                <a:solidFill>
                  <a:schemeClr val="accent5"/>
                </a:solidFill>
              </a:rPr>
              <a:t>학과마다 그 전공이 실제로 다루는 기술영역을 기준으로 묻습니다.</a:t>
            </a:r>
            <a:endParaRPr lang="ko-KR" sz="1400" dirty="0"/>
          </a:p>
        </p:txBody>
      </p:sp>
      <p:sp>
        <p:nvSpPr>
          <p:cNvPr id="10" name="card-26"/>
          <p:cNvSpPr/>
          <p:nvPr/>
        </p:nvSpPr>
        <p:spPr>
          <a:xfrm>
            <a:off x="4368698" y="2971800"/>
            <a:ext cx="3454298" cy="2880360"/>
          </a:xfrm>
          <a:prstGeom prst="roundRect">
            <a:avLst>
              <a:gd name="adj" fmla="val 4444"/>
            </a:avLst>
          </a:prstGeom>
          <a:solidFill>
            <a:schemeClr val="accent4"/>
          </a:solidFill>
          <a:ln/>
        </p:spPr>
      </p:sp>
      <p:sp>
        <p:nvSpPr>
          <p:cNvPr id="11" name="badge-27"/>
          <p:cNvSpPr/>
          <p:nvPr/>
        </p:nvSpPr>
        <p:spPr>
          <a:xfrm>
            <a:off x="4688738" y="3319272"/>
            <a:ext cx="566928" cy="566928"/>
          </a:xfrm>
          <a:prstGeom prst="roundRect">
            <a:avLst>
              <a:gd name="adj" fmla="val 28000"/>
            </a:avLst>
          </a:prstGeom>
          <a:solidFill>
            <a:schemeClr val="accent1"/>
          </a:solidFill>
          <a:ln/>
        </p:spPr>
      </p:sp>
      <p:pic>
        <p:nvPicPr>
          <p:cNvPr id="12" name="icon-28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13463" y="3443996"/>
            <a:ext cx="317480" cy="317480"/>
          </a:xfrm>
          <a:prstGeom prst="rect">
            <a:avLst/>
          </a:prstGeom>
        </p:spPr>
      </p:pic>
      <p:sp>
        <p:nvSpPr>
          <p:cNvPr id="13" name="text-29"/>
          <p:cNvSpPr txBox="1"/>
          <p:nvPr/>
        </p:nvSpPr>
        <p:spPr>
          <a:xfrm>
            <a:off x="4688738" y="4069080"/>
            <a:ext cx="281421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ko-KR" altLang="en-US" sz="2000" b="1" dirty="0">
                <a:solidFill>
                  <a:schemeClr val="bg1"/>
                </a:solidFill>
              </a:rPr>
              <a:t>경험 근거</a:t>
            </a:r>
            <a:endParaRPr lang="ko-KR" sz="2000" dirty="0"/>
          </a:p>
        </p:txBody>
      </p:sp>
      <p:sp>
        <p:nvSpPr>
          <p:cNvPr id="14" name="text-30"/>
          <p:cNvSpPr txBox="1"/>
          <p:nvPr/>
        </p:nvSpPr>
        <p:spPr>
          <a:xfrm>
            <a:off x="4688738" y="4572000"/>
            <a:ext cx="2814218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ko-KR" altLang="en-US" sz="1400" dirty="0">
                <a:solidFill>
                  <a:schemeClr val="accent5"/>
                </a:solidFill>
              </a:rPr>
              <a:t>해 본 일과 직접 정한 것을 나눠 묻고, 답한 것만 결과에 적습니다.</a:t>
            </a:r>
            <a:endParaRPr lang="ko-KR" sz="1400" dirty="0"/>
          </a:p>
        </p:txBody>
      </p:sp>
      <p:sp>
        <p:nvSpPr>
          <p:cNvPr id="15" name="card-31"/>
          <p:cNvSpPr/>
          <p:nvPr/>
        </p:nvSpPr>
        <p:spPr>
          <a:xfrm>
            <a:off x="8188757" y="2971800"/>
            <a:ext cx="3454298" cy="2880360"/>
          </a:xfrm>
          <a:prstGeom prst="roundRect">
            <a:avLst>
              <a:gd name="adj" fmla="val 4444"/>
            </a:avLst>
          </a:prstGeom>
          <a:solidFill>
            <a:schemeClr val="accent4"/>
          </a:solidFill>
          <a:ln/>
        </p:spPr>
      </p:sp>
      <p:sp>
        <p:nvSpPr>
          <p:cNvPr id="16" name="badge-32"/>
          <p:cNvSpPr/>
          <p:nvPr/>
        </p:nvSpPr>
        <p:spPr>
          <a:xfrm>
            <a:off x="8508797" y="3319272"/>
            <a:ext cx="566928" cy="566928"/>
          </a:xfrm>
          <a:prstGeom prst="roundRect">
            <a:avLst>
              <a:gd name="adj" fmla="val 28000"/>
            </a:avLst>
          </a:prstGeom>
          <a:solidFill>
            <a:schemeClr val="accent1"/>
          </a:solidFill>
          <a:ln/>
        </p:spPr>
      </p:sp>
      <p:pic>
        <p:nvPicPr>
          <p:cNvPr id="17" name="icon-33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33521" y="3443996"/>
            <a:ext cx="317480" cy="317480"/>
          </a:xfrm>
          <a:prstGeom prst="rect">
            <a:avLst/>
          </a:prstGeom>
        </p:spPr>
      </p:pic>
      <p:sp>
        <p:nvSpPr>
          <p:cNvPr id="18" name="text-34"/>
          <p:cNvSpPr txBox="1"/>
          <p:nvPr/>
        </p:nvSpPr>
        <p:spPr>
          <a:xfrm>
            <a:off x="8508797" y="4069080"/>
            <a:ext cx="281421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ko-KR" altLang="en-US" sz="2000" b="1" dirty="0">
                <a:solidFill>
                  <a:schemeClr val="bg1"/>
                </a:solidFill>
              </a:rPr>
              <a:t>이어지는 작업공간</a:t>
            </a:r>
            <a:endParaRPr lang="ko-KR" sz="2000" dirty="0"/>
          </a:p>
        </p:txBody>
      </p:sp>
      <p:sp>
        <p:nvSpPr>
          <p:cNvPr id="19" name="text-35"/>
          <p:cNvSpPr txBox="1"/>
          <p:nvPr/>
        </p:nvSpPr>
        <p:spPr>
          <a:xfrm>
            <a:off x="8508797" y="4572000"/>
            <a:ext cx="2814218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ko-KR" altLang="en-US" sz="1400" dirty="0">
                <a:solidFill>
                  <a:schemeClr val="accent5"/>
                </a:solidFill>
              </a:rPr>
              <a:t>새 경험을 더하면 현재 상태와 다음 할 일이 바뀝니다. 검사 당시 결과는 그대로 남습니다.</a:t>
            </a:r>
            <a:endParaRPr lang="ko-KR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364224"/>
            <a:ext cx="54864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329184"/>
            <a:ext cx="1109441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ko-KR" altLang="en-US" sz="1300" b="1" dirty="0">
                <a:solidFill>
                  <a:schemeClr val="accent1"/>
                </a:solidFill>
              </a:rPr>
              <a:t>학생 흐름</a:t>
            </a:r>
            <a:endParaRPr lang="ko-KR" sz="13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603504"/>
            <a:ext cx="11094415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ko-KR" altLang="en-US" sz="3400" b="1" dirty="0">
                <a:solidFill>
                  <a:schemeClr val="tx1"/>
                </a:solidFill>
              </a:rPr>
              <a:t>학생은 네 단계로 씁니다</a:t>
            </a:r>
            <a:endParaRPr lang="ko-KR" sz="3400" dirty="0"/>
          </a:p>
        </p:txBody>
      </p:sp>
      <p:sp>
        <p:nvSpPr>
          <p:cNvPr id="4" name="card-36"/>
          <p:cNvSpPr/>
          <p:nvPr/>
        </p:nvSpPr>
        <p:spPr>
          <a:xfrm>
            <a:off x="548640" y="1783080"/>
            <a:ext cx="2430704" cy="2743200"/>
          </a:xfrm>
          <a:prstGeom prst="roundRect">
            <a:avLst>
              <a:gd name="adj" fmla="val 5267"/>
            </a:avLst>
          </a:prstGeom>
          <a:solidFill>
            <a:schemeClr val="bg1"/>
          </a:solidFill>
          <a:ln w="9525">
            <a:solidFill>
              <a:srgbClr val="E1E7F2"/>
            </a:solidFill>
            <a:prstDash val="solid"/>
          </a:ln>
          <a:effectLst>
            <a:outerShdw sx="100000" sy="100000" kx="0" ky="0" algn="bl" rotWithShape="0" blurRad="127000" dist="25400" dir="5400000">
              <a:srgbClr val="0B1B33">
                <a:alpha val="10000"/>
              </a:srgbClr>
            </a:outerShdw>
          </a:effectLst>
        </p:spPr>
      </p:sp>
      <p:sp>
        <p:nvSpPr>
          <p:cNvPr id="5" name="badge-37"/>
          <p:cNvSpPr/>
          <p:nvPr/>
        </p:nvSpPr>
        <p:spPr>
          <a:xfrm>
            <a:off x="822960" y="2075688"/>
            <a:ext cx="548640" cy="548640"/>
          </a:xfrm>
          <a:prstGeom prst="roundRect">
            <a:avLst>
              <a:gd name="adj" fmla="val 28000"/>
            </a:avLst>
          </a:prstGeom>
          <a:solidFill>
            <a:schemeClr val="accent1"/>
          </a:solidFill>
          <a:ln/>
        </p:spPr>
      </p:sp>
      <p:sp>
        <p:nvSpPr>
          <p:cNvPr id="6" name="badge-num-38"/>
          <p:cNvSpPr txBox="1"/>
          <p:nvPr/>
        </p:nvSpPr>
        <p:spPr>
          <a:xfrm>
            <a:off x="822960" y="2075688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ko-KR" altLang="en-US" sz="2000" b="1" dirty="0">
                <a:solidFill>
                  <a:schemeClr val="bg1"/>
                </a:solidFill>
              </a:rPr>
              <a:t>1</a:t>
            </a:r>
            <a:endParaRPr lang="ko-KR" sz="2000" dirty="0"/>
          </a:p>
        </p:txBody>
      </p:sp>
      <p:sp>
        <p:nvSpPr>
          <p:cNvPr id="7" name="text-39"/>
          <p:cNvSpPr txBox="1"/>
          <p:nvPr/>
        </p:nvSpPr>
        <p:spPr>
          <a:xfrm>
            <a:off x="822960" y="2788920"/>
            <a:ext cx="188206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ko-KR" altLang="en-US" sz="1900" b="1" dirty="0">
                <a:solidFill>
                  <a:schemeClr val="tx1"/>
                </a:solidFill>
              </a:rPr>
              <a:t>학교 입구</a:t>
            </a:r>
            <a:endParaRPr lang="ko-KR" sz="1900" dirty="0"/>
          </a:p>
        </p:txBody>
      </p:sp>
      <p:sp>
        <p:nvSpPr>
          <p:cNvPr id="8" name="text-40"/>
          <p:cNvSpPr txBox="1"/>
          <p:nvPr/>
        </p:nvSpPr>
        <p:spPr>
          <a:xfrm>
            <a:off x="822960" y="3264408"/>
            <a:ext cx="1882064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ko-KR" altLang="en-US" sz="1400" dirty="0">
                <a:solidFill>
                  <a:schemeClr val="accent3"/>
                </a:solidFill>
              </a:rPr>
              <a:t>전주대 전용 주소에서 내 학과를 고르고 학교 계정으로 로그인합니다.</a:t>
            </a:r>
            <a:endParaRPr lang="ko-KR" sz="1400" dirty="0"/>
          </a:p>
        </p:txBody>
      </p:sp>
      <p:pic>
        <p:nvPicPr>
          <p:cNvPr id="9" name="arrow-41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052496" y="2999232"/>
            <a:ext cx="310896" cy="310896"/>
          </a:xfrm>
          <a:prstGeom prst="rect">
            <a:avLst/>
          </a:prstGeom>
        </p:spPr>
      </p:pic>
      <p:sp>
        <p:nvSpPr>
          <p:cNvPr id="10" name="card-42"/>
          <p:cNvSpPr/>
          <p:nvPr/>
        </p:nvSpPr>
        <p:spPr>
          <a:xfrm>
            <a:off x="3436544" y="1783080"/>
            <a:ext cx="2430704" cy="2743200"/>
          </a:xfrm>
          <a:prstGeom prst="roundRect">
            <a:avLst>
              <a:gd name="adj" fmla="val 5267"/>
            </a:avLst>
          </a:prstGeom>
          <a:solidFill>
            <a:schemeClr val="bg1"/>
          </a:solidFill>
          <a:ln w="9525">
            <a:solidFill>
              <a:srgbClr val="E1E7F2"/>
            </a:solidFill>
            <a:prstDash val="solid"/>
          </a:ln>
          <a:effectLst>
            <a:outerShdw sx="100000" sy="100000" kx="0" ky="0" algn="bl" rotWithShape="0" blurRad="127000" dist="25400" dir="5400000">
              <a:srgbClr val="0B1B33">
                <a:alpha val="10000"/>
              </a:srgbClr>
            </a:outerShdw>
          </a:effectLst>
        </p:spPr>
      </p:sp>
      <p:sp>
        <p:nvSpPr>
          <p:cNvPr id="11" name="badge-43"/>
          <p:cNvSpPr/>
          <p:nvPr/>
        </p:nvSpPr>
        <p:spPr>
          <a:xfrm>
            <a:off x="3710864" y="2075688"/>
            <a:ext cx="548640" cy="548640"/>
          </a:xfrm>
          <a:prstGeom prst="roundRect">
            <a:avLst>
              <a:gd name="adj" fmla="val 28000"/>
            </a:avLst>
          </a:prstGeom>
          <a:solidFill>
            <a:schemeClr val="accent1"/>
          </a:solidFill>
          <a:ln/>
        </p:spPr>
      </p:sp>
      <p:sp>
        <p:nvSpPr>
          <p:cNvPr id="12" name="badge-num-44"/>
          <p:cNvSpPr txBox="1"/>
          <p:nvPr/>
        </p:nvSpPr>
        <p:spPr>
          <a:xfrm>
            <a:off x="3710864" y="2075688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ko-KR" altLang="en-US" sz="2000" b="1" dirty="0">
                <a:solidFill>
                  <a:schemeClr val="bg1"/>
                </a:solidFill>
              </a:rPr>
              <a:t>2</a:t>
            </a:r>
            <a:endParaRPr lang="ko-KR" sz="2000" dirty="0"/>
          </a:p>
        </p:txBody>
      </p:sp>
      <p:sp>
        <p:nvSpPr>
          <p:cNvPr id="13" name="text-45"/>
          <p:cNvSpPr txBox="1"/>
          <p:nvPr/>
        </p:nvSpPr>
        <p:spPr>
          <a:xfrm>
            <a:off x="3710864" y="2788920"/>
            <a:ext cx="188206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ko-KR" altLang="en-US" sz="1900" b="1" dirty="0">
                <a:solidFill>
                  <a:schemeClr val="tx1"/>
                </a:solidFill>
              </a:rPr>
              <a:t>경험 중심 응답</a:t>
            </a:r>
            <a:endParaRPr lang="ko-KR" sz="1900" dirty="0"/>
          </a:p>
        </p:txBody>
      </p:sp>
      <p:sp>
        <p:nvSpPr>
          <p:cNvPr id="14" name="text-46"/>
          <p:cNvSpPr txBox="1"/>
          <p:nvPr/>
        </p:nvSpPr>
        <p:spPr>
          <a:xfrm>
            <a:off x="3710864" y="3264408"/>
            <a:ext cx="1882064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ko-KR" altLang="en-US" sz="1400" dirty="0">
                <a:solidFill>
                  <a:schemeClr val="accent3"/>
                </a:solidFill>
              </a:rPr>
              <a:t>해 본 일과 직접 정한 것을 보기에서 고릅니다. 관심 산업과 직무도 고릅니다.</a:t>
            </a:r>
            <a:endParaRPr lang="ko-KR" sz="1400" dirty="0"/>
          </a:p>
        </p:txBody>
      </p:sp>
      <p:pic>
        <p:nvPicPr>
          <p:cNvPr id="15" name="arrow-47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0400" y="2999232"/>
            <a:ext cx="310896" cy="310896"/>
          </a:xfrm>
          <a:prstGeom prst="rect">
            <a:avLst/>
          </a:prstGeom>
        </p:spPr>
      </p:pic>
      <p:sp>
        <p:nvSpPr>
          <p:cNvPr id="16" name="card-48"/>
          <p:cNvSpPr/>
          <p:nvPr/>
        </p:nvSpPr>
        <p:spPr>
          <a:xfrm>
            <a:off x="6324448" y="1783080"/>
            <a:ext cx="2430704" cy="2743200"/>
          </a:xfrm>
          <a:prstGeom prst="roundRect">
            <a:avLst>
              <a:gd name="adj" fmla="val 5267"/>
            </a:avLst>
          </a:prstGeom>
          <a:solidFill>
            <a:schemeClr val="bg1"/>
          </a:solidFill>
          <a:ln w="9525">
            <a:solidFill>
              <a:srgbClr val="E1E7F2"/>
            </a:solidFill>
            <a:prstDash val="solid"/>
          </a:ln>
          <a:effectLst>
            <a:outerShdw sx="100000" sy="100000" kx="0" ky="0" algn="bl" rotWithShape="0" blurRad="127000" dist="25400" dir="5400000">
              <a:srgbClr val="0B1B33">
                <a:alpha val="10000"/>
              </a:srgbClr>
            </a:outerShdw>
          </a:effectLst>
        </p:spPr>
      </p:sp>
      <p:sp>
        <p:nvSpPr>
          <p:cNvPr id="17" name="badge-49"/>
          <p:cNvSpPr/>
          <p:nvPr/>
        </p:nvSpPr>
        <p:spPr>
          <a:xfrm>
            <a:off x="6598768" y="2075688"/>
            <a:ext cx="548640" cy="548640"/>
          </a:xfrm>
          <a:prstGeom prst="roundRect">
            <a:avLst>
              <a:gd name="adj" fmla="val 28000"/>
            </a:avLst>
          </a:prstGeom>
          <a:solidFill>
            <a:schemeClr val="accent1"/>
          </a:solidFill>
          <a:ln/>
        </p:spPr>
      </p:sp>
      <p:sp>
        <p:nvSpPr>
          <p:cNvPr id="18" name="badge-num-50"/>
          <p:cNvSpPr txBox="1"/>
          <p:nvPr/>
        </p:nvSpPr>
        <p:spPr>
          <a:xfrm>
            <a:off x="6598768" y="2075688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ko-KR" altLang="en-US" sz="2000" b="1" dirty="0">
                <a:solidFill>
                  <a:schemeClr val="bg1"/>
                </a:solidFill>
              </a:rPr>
              <a:t>3</a:t>
            </a:r>
            <a:endParaRPr lang="ko-KR" sz="2000" dirty="0"/>
          </a:p>
        </p:txBody>
      </p:sp>
      <p:sp>
        <p:nvSpPr>
          <p:cNvPr id="19" name="text-51"/>
          <p:cNvSpPr txBox="1"/>
          <p:nvPr/>
        </p:nvSpPr>
        <p:spPr>
          <a:xfrm>
            <a:off x="6598768" y="2788920"/>
            <a:ext cx="188206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ko-KR" altLang="en-US" sz="1900" b="1" dirty="0">
                <a:solidFill>
                  <a:schemeClr val="tx1"/>
                </a:solidFill>
              </a:rPr>
              <a:t>결과지</a:t>
            </a:r>
            <a:endParaRPr lang="ko-KR" sz="1900" dirty="0"/>
          </a:p>
        </p:txBody>
      </p:sp>
      <p:sp>
        <p:nvSpPr>
          <p:cNvPr id="20" name="text-52"/>
          <p:cNvSpPr txBox="1"/>
          <p:nvPr/>
        </p:nvSpPr>
        <p:spPr>
          <a:xfrm>
            <a:off x="6598768" y="3264408"/>
            <a:ext cx="1882064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ko-KR" altLang="en-US" sz="1400" dirty="0">
                <a:solidFill>
                  <a:schemeClr val="accent3"/>
                </a:solidFill>
              </a:rPr>
              <a:t>웹 화면으로 바로 보고, A4 PDF로 저장합니다.</a:t>
            </a:r>
            <a:endParaRPr lang="ko-KR" sz="1400" dirty="0"/>
          </a:p>
        </p:txBody>
      </p:sp>
      <p:pic>
        <p:nvPicPr>
          <p:cNvPr id="21" name="arrow-53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28303" y="2999232"/>
            <a:ext cx="310896" cy="310896"/>
          </a:xfrm>
          <a:prstGeom prst="rect">
            <a:avLst/>
          </a:prstGeom>
        </p:spPr>
      </p:pic>
      <p:sp>
        <p:nvSpPr>
          <p:cNvPr id="22" name="card-54"/>
          <p:cNvSpPr/>
          <p:nvPr/>
        </p:nvSpPr>
        <p:spPr>
          <a:xfrm>
            <a:off x="9212351" y="1783080"/>
            <a:ext cx="2430704" cy="2743200"/>
          </a:xfrm>
          <a:prstGeom prst="roundRect">
            <a:avLst>
              <a:gd name="adj" fmla="val 5267"/>
            </a:avLst>
          </a:prstGeom>
          <a:solidFill>
            <a:schemeClr val="accent2"/>
          </a:solidFill>
          <a:ln w="9525">
            <a:solidFill>
              <a:srgbClr val="E1E7F2"/>
            </a:solidFill>
            <a:prstDash val="solid"/>
          </a:ln>
          <a:effectLst>
            <a:outerShdw sx="100000" sy="100000" kx="0" ky="0" algn="bl" rotWithShape="0" blurRad="127000" dist="25400" dir="5400000">
              <a:srgbClr val="0B1B33">
                <a:alpha val="10000"/>
              </a:srgbClr>
            </a:outerShdw>
          </a:effectLst>
        </p:spPr>
      </p:sp>
      <p:sp>
        <p:nvSpPr>
          <p:cNvPr id="23" name="badge-55"/>
          <p:cNvSpPr/>
          <p:nvPr/>
        </p:nvSpPr>
        <p:spPr>
          <a:xfrm>
            <a:off x="9486671" y="2075688"/>
            <a:ext cx="548640" cy="548640"/>
          </a:xfrm>
          <a:prstGeom prst="roundRect">
            <a:avLst>
              <a:gd name="adj" fmla="val 28000"/>
            </a:avLst>
          </a:prstGeom>
          <a:solidFill>
            <a:schemeClr val="accent1"/>
          </a:solidFill>
          <a:ln/>
        </p:spPr>
      </p:sp>
      <p:sp>
        <p:nvSpPr>
          <p:cNvPr id="24" name="badge-num-56"/>
          <p:cNvSpPr txBox="1"/>
          <p:nvPr/>
        </p:nvSpPr>
        <p:spPr>
          <a:xfrm>
            <a:off x="9486671" y="2075688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ko-KR" altLang="en-US" sz="2000" b="1" dirty="0">
                <a:solidFill>
                  <a:schemeClr val="bg1"/>
                </a:solidFill>
              </a:rPr>
              <a:t>4</a:t>
            </a:r>
            <a:endParaRPr lang="ko-KR" sz="2000" dirty="0"/>
          </a:p>
        </p:txBody>
      </p:sp>
      <p:sp>
        <p:nvSpPr>
          <p:cNvPr id="25" name="text-57"/>
          <p:cNvSpPr txBox="1"/>
          <p:nvPr/>
        </p:nvSpPr>
        <p:spPr>
          <a:xfrm>
            <a:off x="9486671" y="2788920"/>
            <a:ext cx="188206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ko-KR" altLang="en-US" sz="1900" b="1" dirty="0">
                <a:solidFill>
                  <a:schemeClr val="tx1"/>
                </a:solidFill>
              </a:rPr>
              <a:t>내 CareerMatri</a:t>
            </a:r>
            <a:endParaRPr lang="ko-KR" sz="1900" dirty="0"/>
          </a:p>
        </p:txBody>
      </p:sp>
      <p:sp>
        <p:nvSpPr>
          <p:cNvPr id="26" name="text-58"/>
          <p:cNvSpPr txBox="1"/>
          <p:nvPr/>
        </p:nvSpPr>
        <p:spPr>
          <a:xfrm>
            <a:off x="9486671" y="3264408"/>
            <a:ext cx="1882064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ko-KR" altLang="en-US" sz="1400" dirty="0">
                <a:solidFill>
                  <a:schemeClr val="accent3"/>
                </a:solidFill>
              </a:rPr>
              <a:t>경험 추가 → 현재 상태 갱신 → 다음 할 일. 졸업 준비 내내 이어서 씁니다.</a:t>
            </a:r>
            <a:endParaRPr lang="ko-KR" sz="1400" dirty="0"/>
          </a:p>
        </p:txBody>
      </p:sp>
      <p:sp>
        <p:nvSpPr>
          <p:cNvPr id="27" name="card-59"/>
          <p:cNvSpPr/>
          <p:nvPr/>
        </p:nvSpPr>
        <p:spPr>
          <a:xfrm>
            <a:off x="548640" y="4892040"/>
            <a:ext cx="11094415" cy="1051560"/>
          </a:xfrm>
          <a:prstGeom prst="roundRect">
            <a:avLst>
              <a:gd name="adj" fmla="val 12174"/>
            </a:avLst>
          </a:prstGeom>
          <a:solidFill>
            <a:schemeClr val="bg2"/>
          </a:solidFill>
          <a:ln/>
        </p:spPr>
      </p:sp>
      <p:sp>
        <p:nvSpPr>
          <p:cNvPr id="28" name="text-60"/>
          <p:cNvSpPr txBox="1"/>
          <p:nvPr/>
        </p:nvSpPr>
        <p:spPr>
          <a:xfrm>
            <a:off x="868680" y="5029200"/>
            <a:ext cx="1045433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ko-KR" altLang="en-US" sz="1400" b="1" dirty="0">
                <a:solidFill>
                  <a:schemeClr val="tx1"/>
                </a:solidFill>
              </a:rPr>
              <a:t>학교 응시는 등급을 고르지 않습니다.  </a:t>
            </a:r>
            <a:pPr indent="0" marL="0">
              <a:lnSpc>
                <a:spcPct val="115000"/>
              </a:lnSpc>
              <a:buNone/>
            </a:pPr>
            <a:r>
              <a:rPr lang="ko-KR" altLang="en-US" sz="1400" dirty="0">
                <a:solidFill>
                  <a:schemeClr val="accent3"/>
                </a:solidFill>
              </a:rPr>
              <a:t>학교 계약으로 들어온 학생은 모두 가장 깊은 단계(PRO)의 같은 문항 범위로 응시합니다. 그래서 같은 학과 학생을 한 표에서 집계할 수 있습니다.</a:t>
            </a:r>
            <a:endParaRPr lang="ko-KR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364224"/>
            <a:ext cx="54864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3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329184"/>
            <a:ext cx="1109441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ko-KR" altLang="en-US" sz="1300" b="1" dirty="0">
                <a:solidFill>
                  <a:schemeClr val="accent1"/>
                </a:solidFill>
              </a:rPr>
              <a:t>전주대 맞춤 구성</a:t>
            </a:r>
            <a:endParaRPr lang="ko-KR" sz="13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603504"/>
            <a:ext cx="11094415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ko-KR" altLang="en-US" sz="3400" b="1" dirty="0">
                <a:solidFill>
                  <a:schemeClr val="tx1"/>
                </a:solidFill>
              </a:rPr>
              <a:t>두 자리를 같은 기준으로 봅니다</a:t>
            </a:r>
            <a:endParaRPr lang="ko-KR" sz="3400" dirty="0"/>
          </a:p>
        </p:txBody>
      </p:sp>
      <p:sp>
        <p:nvSpPr>
          <p:cNvPr id="4" name="card-61"/>
          <p:cNvSpPr/>
          <p:nvPr/>
        </p:nvSpPr>
        <p:spPr>
          <a:xfrm>
            <a:off x="548640" y="1691640"/>
            <a:ext cx="3794760" cy="1188720"/>
          </a:xfrm>
          <a:prstGeom prst="roundRect">
            <a:avLst>
              <a:gd name="adj" fmla="val 10769"/>
            </a:avLst>
          </a:prstGeom>
          <a:solidFill>
            <a:schemeClr val="bg1"/>
          </a:solidFill>
          <a:ln w="9525">
            <a:solidFill>
              <a:srgbClr val="E1E7F2"/>
            </a:solidFill>
            <a:prstDash val="solid"/>
          </a:ln>
          <a:effectLst>
            <a:outerShdw sx="100000" sy="100000" kx="0" ky="0" algn="bl" rotWithShape="0" blurRad="127000" dist="25400" dir="5400000">
              <a:srgbClr val="0B1B33">
                <a:alpha val="10000"/>
              </a:srgbClr>
            </a:outerShdw>
          </a:effectLst>
        </p:spPr>
      </p:sp>
      <p:sp>
        <p:nvSpPr>
          <p:cNvPr id="5" name="text-62"/>
          <p:cNvSpPr txBox="1"/>
          <p:nvPr/>
        </p:nvSpPr>
        <p:spPr>
          <a:xfrm>
            <a:off x="822960" y="1920240"/>
            <a:ext cx="3246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ko-KR" altLang="en-US" sz="1800" b="1" dirty="0">
                <a:solidFill>
                  <a:schemeClr val="tx1"/>
                </a:solidFill>
              </a:rPr>
              <a:t>인공지능학부</a:t>
            </a:r>
            <a:endParaRPr lang="ko-KR" sz="1800" dirty="0"/>
          </a:p>
        </p:txBody>
      </p:sp>
      <p:sp>
        <p:nvSpPr>
          <p:cNvPr id="6" name="text-63"/>
          <p:cNvSpPr txBox="1"/>
          <p:nvPr/>
        </p:nvSpPr>
        <p:spPr>
          <a:xfrm>
            <a:off x="822960" y="2377440"/>
            <a:ext cx="3246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ko-KR" altLang="en-US" sz="1400" dirty="0">
                <a:solidFill>
                  <a:schemeClr val="accent3"/>
                </a:solidFill>
              </a:rPr>
              <a:t>학생 입구의 학과 목록에서 고르는 자리</a:t>
            </a:r>
            <a:endParaRPr lang="ko-KR" sz="1400" dirty="0"/>
          </a:p>
        </p:txBody>
      </p:sp>
      <p:sp>
        <p:nvSpPr>
          <p:cNvPr id="7" name="card-64"/>
          <p:cNvSpPr/>
          <p:nvPr/>
        </p:nvSpPr>
        <p:spPr>
          <a:xfrm>
            <a:off x="548640" y="3154680"/>
            <a:ext cx="3794760" cy="1737360"/>
          </a:xfrm>
          <a:prstGeom prst="roundRect">
            <a:avLst>
              <a:gd name="adj" fmla="val 7368"/>
            </a:avLst>
          </a:prstGeom>
          <a:solidFill>
            <a:schemeClr val="bg1"/>
          </a:solidFill>
          <a:ln w="9525">
            <a:solidFill>
              <a:srgbClr val="E1E7F2"/>
            </a:solidFill>
            <a:prstDash val="solid"/>
          </a:ln>
          <a:effectLst>
            <a:outerShdw sx="100000" sy="100000" kx="0" ky="0" algn="bl" rotWithShape="0" blurRad="127000" dist="25400" dir="5400000">
              <a:srgbClr val="0B1B33">
                <a:alpha val="10000"/>
              </a:srgbClr>
            </a:outerShdw>
          </a:effectLst>
        </p:spPr>
      </p:sp>
      <p:sp>
        <p:nvSpPr>
          <p:cNvPr id="8" name="text-65"/>
          <p:cNvSpPr txBox="1"/>
          <p:nvPr/>
        </p:nvSpPr>
        <p:spPr>
          <a:xfrm>
            <a:off x="822960" y="3355848"/>
            <a:ext cx="32461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ko-KR" altLang="en-US" sz="1800" b="1" dirty="0">
                <a:solidFill>
                  <a:schemeClr val="tx1"/>
                </a:solidFill>
              </a:rPr>
              <a:t>첨단산업인재양성</a:t>
            </a:r>
            <a:endParaRPr lang="ko-KR" sz="1800" dirty="0"/>
          </a:p>
          <a:p>
            <a:pPr indent="0" marL="0">
              <a:buNone/>
            </a:pPr>
            <a:r>
              <a:rPr lang="ko-KR" altLang="en-US" sz="1800" b="1" dirty="0">
                <a:solidFill>
                  <a:schemeClr val="tx1"/>
                </a:solidFill>
              </a:rPr>
              <a:t>부트캠프사업단</a:t>
            </a:r>
            <a:endParaRPr lang="ko-KR" sz="1800" dirty="0"/>
          </a:p>
        </p:txBody>
      </p:sp>
      <p:sp>
        <p:nvSpPr>
          <p:cNvPr id="9" name="text-66"/>
          <p:cNvSpPr txBox="1"/>
          <p:nvPr/>
        </p:nvSpPr>
        <p:spPr>
          <a:xfrm>
            <a:off x="822960" y="4114800"/>
            <a:ext cx="32461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ko-KR" altLang="en-US" sz="1300" dirty="0">
                <a:solidFill>
                  <a:schemeClr val="accent3"/>
                </a:solidFill>
              </a:rPr>
              <a:t>AI 분야 부트캠프(피지컬 AI). 여러 학과 학생이 함께 듣는 과정이라 소속 학과와 따로 자리를 둡니다.</a:t>
            </a:r>
            <a:endParaRPr lang="ko-KR" sz="1300" dirty="0"/>
          </a:p>
        </p:txBody>
      </p:sp>
      <p:pic>
        <p:nvPicPr>
          <p:cNvPr id="10" name="arrow-ai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453128" y="2103120"/>
            <a:ext cx="365760" cy="365760"/>
          </a:xfrm>
          <a:prstGeom prst="rect">
            <a:avLst/>
          </a:prstGeom>
        </p:spPr>
      </p:pic>
      <p:pic>
        <p:nvPicPr>
          <p:cNvPr id="11" name="arrow-bootcamp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53128" y="3840480"/>
            <a:ext cx="365760" cy="365760"/>
          </a:xfrm>
          <a:prstGeom prst="rect">
            <a:avLst/>
          </a:prstGeom>
        </p:spPr>
      </p:pic>
      <p:sp>
        <p:nvSpPr>
          <p:cNvPr id="12" name="card-67"/>
          <p:cNvSpPr/>
          <p:nvPr/>
        </p:nvSpPr>
        <p:spPr>
          <a:xfrm>
            <a:off x="4937760" y="1691640"/>
            <a:ext cx="3246120" cy="3200400"/>
          </a:xfrm>
          <a:prstGeom prst="roundRect">
            <a:avLst>
              <a:gd name="adj" fmla="val 4000"/>
            </a:avLst>
          </a:prstGeom>
          <a:solidFill>
            <a:schemeClr val="tx1"/>
          </a:solidFill>
          <a:ln/>
          <a:effectLst>
            <a:outerShdw sx="100000" sy="100000" kx="0" ky="0" algn="bl" rotWithShape="0" blurRad="127000" dist="25400" dir="5400000">
              <a:srgbClr val="0B1B33">
                <a:alpha val="10000"/>
              </a:srgbClr>
            </a:outerShdw>
          </a:effectLst>
        </p:spPr>
      </p:sp>
      <p:sp>
        <p:nvSpPr>
          <p:cNvPr id="13" name="text-68"/>
          <p:cNvSpPr txBox="1"/>
          <p:nvPr/>
        </p:nvSpPr>
        <p:spPr>
          <a:xfrm>
            <a:off x="5212080" y="1965960"/>
            <a:ext cx="2697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ko-KR" altLang="en-US" sz="1200" b="1" dirty="0">
                <a:solidFill>
                  <a:schemeClr val="accent5"/>
                </a:solidFill>
              </a:rPr>
              <a:t>Major Core</a:t>
            </a:r>
            <a:endParaRPr lang="ko-KR" sz="1200" dirty="0"/>
          </a:p>
        </p:txBody>
      </p:sp>
      <p:sp>
        <p:nvSpPr>
          <p:cNvPr id="14" name="text-69"/>
          <p:cNvSpPr txBox="1"/>
          <p:nvPr/>
        </p:nvSpPr>
        <p:spPr>
          <a:xfrm>
            <a:off x="5212080" y="2258568"/>
            <a:ext cx="2697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ko-KR" altLang="en-US" sz="2200" b="1" dirty="0">
                <a:solidFill>
                  <a:schemeClr val="bg1"/>
                </a:solidFill>
              </a:rPr>
              <a:t>컴퓨터·소프트웨어</a:t>
            </a:r>
            <a:endParaRPr lang="ko-KR" sz="2200" dirty="0"/>
          </a:p>
        </p:txBody>
      </p:sp>
      <p:sp>
        <p:nvSpPr>
          <p:cNvPr id="15" name="spec-pill"/>
          <p:cNvSpPr/>
          <p:nvPr/>
        </p:nvSpPr>
        <p:spPr>
          <a:xfrm>
            <a:off x="5212080" y="2834640"/>
            <a:ext cx="2240280" cy="420624"/>
          </a:xfrm>
          <a:prstGeom prst="roundRect">
            <a:avLst>
              <a:gd name="adj" fmla="val 21739"/>
            </a:avLst>
          </a:prstGeom>
          <a:solidFill>
            <a:schemeClr val="accent1"/>
          </a:solidFill>
          <a:ln/>
        </p:spPr>
      </p:sp>
      <p:sp>
        <p:nvSpPr>
          <p:cNvPr id="16" name="text-70"/>
          <p:cNvSpPr txBox="1"/>
          <p:nvPr/>
        </p:nvSpPr>
        <p:spPr>
          <a:xfrm>
            <a:off x="5212080" y="2834640"/>
            <a:ext cx="22402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ko-KR" altLang="en-US" sz="1400" b="1" dirty="0">
                <a:solidFill>
                  <a:schemeClr val="bg1"/>
                </a:solidFill>
              </a:rPr>
              <a:t>인공지능·데이터 갈래</a:t>
            </a:r>
            <a:endParaRPr lang="ko-KR" sz="1400" dirty="0"/>
          </a:p>
        </p:txBody>
      </p:sp>
      <p:sp>
        <p:nvSpPr>
          <p:cNvPr id="17" name="text-71"/>
          <p:cNvSpPr txBox="1"/>
          <p:nvPr/>
        </p:nvSpPr>
        <p:spPr>
          <a:xfrm>
            <a:off x="5212080" y="3474720"/>
            <a:ext cx="26974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ko-KR" altLang="en-US" sz="1500" dirty="0">
                <a:solidFill>
                  <a:schemeClr val="bg1"/>
                </a:solidFill>
              </a:rPr>
              <a:t>기술영역 11</a:t>
            </a:r>
            <a:endParaRPr lang="ko-KR" sz="1500" dirty="0"/>
          </a:p>
          <a:p>
            <a:pPr indent="0" marL="0">
              <a:lnSpc>
                <a:spcPct val="130000"/>
              </a:lnSpc>
              <a:buNone/>
            </a:pPr>
            <a:r>
              <a:rPr lang="ko-KR" altLang="en-US" sz="1500" dirty="0">
                <a:solidFill>
                  <a:schemeClr val="bg1"/>
                </a:solidFill>
              </a:rPr>
              <a:t>판단 8가지</a:t>
            </a:r>
            <a:endParaRPr lang="ko-KR" sz="1500" dirty="0"/>
          </a:p>
          <a:p>
            <a:pPr indent="0" marL="0">
              <a:lnSpc>
                <a:spcPct val="130000"/>
              </a:lnSpc>
              <a:buNone/>
            </a:pPr>
            <a:r>
              <a:rPr lang="ko-KR" altLang="en-US" sz="1500" dirty="0">
                <a:solidFill>
                  <a:schemeClr val="bg1"/>
                </a:solidFill>
              </a:rPr>
              <a:t>산업팩 7 · 역할팩 8</a:t>
            </a:r>
            <a:endParaRPr lang="ko-KR" sz="1500" dirty="0"/>
          </a:p>
        </p:txBody>
      </p:sp>
      <p:sp>
        <p:nvSpPr>
          <p:cNvPr id="18" name="text-72"/>
          <p:cNvSpPr txBox="1"/>
          <p:nvPr/>
        </p:nvSpPr>
        <p:spPr>
          <a:xfrm>
            <a:off x="8549640" y="1691640"/>
            <a:ext cx="3093415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ko-KR" altLang="en-US" sz="1600" b="1" dirty="0">
                <a:solidFill>
                  <a:schemeClr val="tx1"/>
                </a:solidFill>
              </a:rPr>
              <a:t>기술영역 11개</a:t>
            </a:r>
            <a:endParaRPr lang="ko-KR" sz="1600" dirty="0"/>
          </a:p>
        </p:txBody>
      </p:sp>
      <p:sp>
        <p:nvSpPr>
          <p:cNvPr id="19" name="text-73"/>
          <p:cNvSpPr txBox="1"/>
          <p:nvPr/>
        </p:nvSpPr>
        <p:spPr>
          <a:xfrm>
            <a:off x="8549640" y="2103120"/>
            <a:ext cx="3093415" cy="3063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200"/>
              </a:spcAft>
              <a:buSzPct val="100000"/>
              <a:buChar char="●"/>
            </a:pPr>
            <a:r>
              <a:rPr lang="ko-KR" altLang="en-US" sz="1400" dirty="0">
                <a:solidFill>
                  <a:schemeClr val="tx1"/>
                </a:solidFill>
              </a:rPr>
              <a:t>소프트웨어 설계·구조</a:t>
            </a:r>
            <a:endParaRPr lang="ko-KR" sz="1400" dirty="0"/>
          </a:p>
          <a:p>
            <a:pPr marL="342900" indent="-342900">
              <a:spcAft>
                <a:spcPts val="200"/>
              </a:spcAft>
              <a:buSzPct val="100000"/>
              <a:buChar char="●"/>
            </a:pPr>
            <a:r>
              <a:rPr lang="ko-KR" altLang="en-US" sz="1400" b="1" dirty="0">
                <a:solidFill>
                  <a:schemeClr val="accent1"/>
                </a:solidFill>
              </a:rPr>
              <a:t>자료구조·알고리즘</a:t>
            </a:r>
            <a:endParaRPr lang="ko-KR" sz="1400" dirty="0"/>
          </a:p>
          <a:p>
            <a:pPr marL="342900" indent="-342900">
              <a:spcAft>
                <a:spcPts val="200"/>
              </a:spcAft>
              <a:buSzPct val="100000"/>
              <a:buChar char="●"/>
            </a:pPr>
            <a:r>
              <a:rPr lang="ko-KR" altLang="en-US" sz="1400" dirty="0">
                <a:solidFill>
                  <a:schemeClr val="tx1"/>
                </a:solidFill>
              </a:rPr>
              <a:t>서버·API 구현</a:t>
            </a:r>
            <a:endParaRPr lang="ko-KR" sz="1400" dirty="0"/>
          </a:p>
          <a:p>
            <a:pPr marL="342900" indent="-342900">
              <a:spcAft>
                <a:spcPts val="200"/>
              </a:spcAft>
              <a:buSzPct val="100000"/>
              <a:buChar char="●"/>
            </a:pPr>
            <a:r>
              <a:rPr lang="ko-KR" altLang="en-US" sz="1400" b="1" dirty="0">
                <a:solidFill>
                  <a:schemeClr val="accent1"/>
                </a:solidFill>
              </a:rPr>
              <a:t>데이터 저장·질의 설계</a:t>
            </a:r>
            <a:endParaRPr lang="ko-KR" sz="1400" dirty="0"/>
          </a:p>
          <a:p>
            <a:pPr marL="342900" indent="-342900">
              <a:spcAft>
                <a:spcPts val="200"/>
              </a:spcAft>
              <a:buSzPct val="100000"/>
              <a:buChar char="●"/>
            </a:pPr>
            <a:r>
              <a:rPr lang="ko-KR" altLang="en-US" sz="1400" dirty="0">
                <a:solidFill>
                  <a:schemeClr val="tx1"/>
                </a:solidFill>
              </a:rPr>
              <a:t>사용자 인터페이스 구현</a:t>
            </a:r>
            <a:endParaRPr lang="ko-KR" sz="1400" dirty="0"/>
          </a:p>
          <a:p>
            <a:pPr marL="342900" indent="-342900">
              <a:spcAft>
                <a:spcPts val="200"/>
              </a:spcAft>
              <a:buSzPct val="100000"/>
              <a:buChar char="●"/>
            </a:pPr>
            <a:r>
              <a:rPr lang="ko-KR" altLang="en-US" sz="1400" dirty="0">
                <a:solidFill>
                  <a:schemeClr val="tx1"/>
                </a:solidFill>
              </a:rPr>
              <a:t>시스템·동시성 프로그래밍</a:t>
            </a:r>
            <a:endParaRPr lang="ko-KR" sz="1400" dirty="0"/>
          </a:p>
          <a:p>
            <a:pPr marL="342900" indent="-342900">
              <a:spcAft>
                <a:spcPts val="200"/>
              </a:spcAft>
              <a:buSzPct val="100000"/>
              <a:buChar char="●"/>
            </a:pPr>
            <a:r>
              <a:rPr lang="ko-KR" altLang="en-US" sz="1400" dirty="0">
                <a:solidFill>
                  <a:schemeClr val="tx1"/>
                </a:solidFill>
              </a:rPr>
              <a:t>네트워크·분산 시스템</a:t>
            </a:r>
            <a:endParaRPr lang="ko-KR" sz="1400" dirty="0"/>
          </a:p>
          <a:p>
            <a:pPr marL="342900" indent="-342900">
              <a:spcAft>
                <a:spcPts val="200"/>
              </a:spcAft>
              <a:buSzPct val="100000"/>
              <a:buChar char="●"/>
            </a:pPr>
            <a:r>
              <a:rPr lang="ko-KR" altLang="en-US" sz="1400" dirty="0">
                <a:solidFill>
                  <a:schemeClr val="tx1"/>
                </a:solidFill>
              </a:rPr>
              <a:t>정보보안</a:t>
            </a:r>
            <a:endParaRPr lang="ko-KR" sz="1400" dirty="0"/>
          </a:p>
          <a:p>
            <a:pPr marL="342900" indent="-342900">
              <a:spcAft>
                <a:spcPts val="200"/>
              </a:spcAft>
              <a:buSzPct val="100000"/>
              <a:buChar char="●"/>
            </a:pPr>
            <a:r>
              <a:rPr lang="ko-KR" altLang="en-US" sz="1400" b="1" dirty="0">
                <a:solidFill>
                  <a:schemeClr val="accent1"/>
                </a:solidFill>
              </a:rPr>
              <a:t>기계학습·데이터 분석</a:t>
            </a:r>
            <a:endParaRPr lang="ko-KR" sz="1400" dirty="0"/>
          </a:p>
          <a:p>
            <a:pPr marL="342900" indent="-342900">
              <a:spcAft>
                <a:spcPts val="200"/>
              </a:spcAft>
              <a:buSzPct val="100000"/>
              <a:buChar char="●"/>
            </a:pPr>
            <a:r>
              <a:rPr lang="ko-KR" altLang="en-US" sz="1400" dirty="0">
                <a:solidFill>
                  <a:schemeClr val="tx1"/>
                </a:solidFill>
              </a:rPr>
              <a:t>테스트·품질·배포 운영</a:t>
            </a:r>
            <a:endParaRPr lang="ko-KR" sz="1400" dirty="0"/>
          </a:p>
          <a:p>
            <a:pPr marL="342900" indent="-342900">
              <a:spcAft>
                <a:spcPts val="200"/>
              </a:spcAft>
              <a:buSzPct val="100000"/>
              <a:buChar char="●"/>
            </a:pPr>
            <a:r>
              <a:rPr lang="ko-KR" altLang="en-US" sz="1400" dirty="0">
                <a:solidFill>
                  <a:schemeClr val="tx1"/>
                </a:solidFill>
              </a:rPr>
              <a:t>실시간 그래픽스·게임 구현</a:t>
            </a:r>
            <a:endParaRPr lang="ko-KR" sz="1400" dirty="0"/>
          </a:p>
        </p:txBody>
      </p:sp>
      <p:sp>
        <p:nvSpPr>
          <p:cNvPr id="20" name="card-74"/>
          <p:cNvSpPr/>
          <p:nvPr/>
        </p:nvSpPr>
        <p:spPr>
          <a:xfrm>
            <a:off x="548640" y="5257800"/>
            <a:ext cx="11094415" cy="868680"/>
          </a:xfrm>
          <a:prstGeom prst="roundRect">
            <a:avLst>
              <a:gd name="adj" fmla="val 14737"/>
            </a:avLst>
          </a:prstGeom>
          <a:solidFill>
            <a:schemeClr val="bg2"/>
          </a:solidFill>
          <a:ln/>
        </p:spPr>
      </p:sp>
      <p:sp>
        <p:nvSpPr>
          <p:cNvPr id="21" name="text-75"/>
          <p:cNvSpPr txBox="1"/>
          <p:nvPr/>
        </p:nvSpPr>
        <p:spPr>
          <a:xfrm>
            <a:off x="868680" y="5303520"/>
            <a:ext cx="1045433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ko-KR" altLang="en-US" sz="1400" b="1" dirty="0">
                <a:solidFill>
                  <a:schemeClr val="accent1"/>
                </a:solidFill>
              </a:rPr>
              <a:t>파란 글씨는 인공지능·데이터 갈래에서 먼저 설명하는 영역입니다.  </a:t>
            </a:r>
            <a:pPr indent="0" marL="0">
              <a:lnSpc>
                <a:spcPct val="110000"/>
              </a:lnSpc>
              <a:buNone/>
            </a:pPr>
            <a:r>
              <a:rPr lang="ko-KR" altLang="en-US" sz="1400" dirty="0">
                <a:solidFill>
                  <a:schemeClr val="accent3"/>
                </a:solidFill>
              </a:rPr>
              <a:t>갈래는 설명 순서만 정하고 채점 기준은 바꾸지 않습니다. 인공지능학부 학생과 부트캠프 학생을 같은 기준으로 봅니다.</a:t>
            </a:r>
            <a:endParaRPr lang="ko-KR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364224"/>
            <a:ext cx="54864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3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329184"/>
            <a:ext cx="1109441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ko-KR" altLang="en-US" sz="1300" b="1" dirty="0">
                <a:solidFill>
                  <a:schemeClr val="accent1"/>
                </a:solidFill>
              </a:rPr>
              <a:t>무엇을 묻는가</a:t>
            </a:r>
            <a:endParaRPr lang="ko-KR" sz="13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603504"/>
            <a:ext cx="11094415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ko-KR" altLang="en-US" sz="3400" b="1" dirty="0">
                <a:solidFill>
                  <a:schemeClr val="tx1"/>
                </a:solidFill>
              </a:rPr>
              <a:t>경험마다 여덟 가지 판단을 확인합니다</a:t>
            </a:r>
            <a:endParaRPr lang="ko-KR" sz="3400" dirty="0"/>
          </a:p>
        </p:txBody>
      </p:sp>
      <p:sp>
        <p:nvSpPr>
          <p:cNvPr id="4" name="card-76"/>
          <p:cNvSpPr/>
          <p:nvPr/>
        </p:nvSpPr>
        <p:spPr>
          <a:xfrm>
            <a:off x="548640" y="1554480"/>
            <a:ext cx="3484778" cy="3611880"/>
          </a:xfrm>
          <a:prstGeom prst="roundRect">
            <a:avLst>
              <a:gd name="adj" fmla="val 3674"/>
            </a:avLst>
          </a:prstGeom>
          <a:solidFill>
            <a:schemeClr val="bg1"/>
          </a:solidFill>
          <a:ln w="9525">
            <a:solidFill>
              <a:srgbClr val="E1E7F2"/>
            </a:solidFill>
            <a:prstDash val="solid"/>
          </a:ln>
          <a:effectLst>
            <a:outerShdw sx="100000" sy="100000" kx="0" ky="0" algn="bl" rotWithShape="0" blurRad="127000" dist="25400" dir="5400000">
              <a:srgbClr val="0B1B33">
                <a:alpha val="10000"/>
              </a:srgbClr>
            </a:outerShdw>
          </a:effectLst>
        </p:spPr>
      </p:sp>
      <p:sp>
        <p:nvSpPr>
          <p:cNvPr id="5" name="text-77"/>
          <p:cNvSpPr txBox="1"/>
          <p:nvPr/>
        </p:nvSpPr>
        <p:spPr>
          <a:xfrm>
            <a:off x="822960" y="1783080"/>
            <a:ext cx="293613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ko-KR" altLang="en-US" sz="1900" b="1" dirty="0">
                <a:solidFill>
                  <a:schemeClr val="tx1"/>
                </a:solidFill>
              </a:rPr>
              <a:t>판단 8가지</a:t>
            </a:r>
            <a:endParaRPr lang="ko-KR" sz="1900" dirty="0"/>
          </a:p>
        </p:txBody>
      </p:sp>
      <p:sp>
        <p:nvSpPr>
          <p:cNvPr id="6" name="text-78"/>
          <p:cNvSpPr txBox="1"/>
          <p:nvPr/>
        </p:nvSpPr>
        <p:spPr>
          <a:xfrm>
            <a:off x="822960" y="2176272"/>
            <a:ext cx="293613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ko-KR" altLang="en-US" sz="1200" dirty="0">
                <a:solidFill>
                  <a:schemeClr val="accent3"/>
                </a:solidFill>
              </a:rPr>
              <a:t>한 경험에서 확인하는 것</a:t>
            </a:r>
            <a:endParaRPr lang="ko-KR" sz="1200" dirty="0"/>
          </a:p>
        </p:txBody>
      </p:sp>
      <p:sp>
        <p:nvSpPr>
          <p:cNvPr id="7" name="text-79"/>
          <p:cNvSpPr txBox="1"/>
          <p:nvPr/>
        </p:nvSpPr>
        <p:spPr>
          <a:xfrm>
            <a:off x="822960" y="2560320"/>
            <a:ext cx="3027578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00"/>
              </a:spcAft>
              <a:buSzPct val="100000"/>
              <a:buChar char="●"/>
            </a:pPr>
            <a:r>
              <a:rPr lang="ko-KR" altLang="en-US" sz="1400" dirty="0">
                <a:solidFill>
                  <a:schemeClr val="tx1"/>
                </a:solidFill>
              </a:rPr>
              <a:t>문제 정의</a:t>
            </a:r>
            <a:endParaRPr lang="ko-KR" sz="1400" dirty="0"/>
          </a:p>
          <a:p>
            <a:pPr marL="342900" indent="-342900">
              <a:spcAft>
                <a:spcPts val="100"/>
              </a:spcAft>
              <a:buSzPct val="100000"/>
              <a:buChar char="●"/>
            </a:pPr>
            <a:r>
              <a:rPr lang="ko-KR" altLang="en-US" sz="1400" dirty="0">
                <a:solidFill>
                  <a:schemeClr val="tx1"/>
                </a:solidFill>
              </a:rPr>
              <a:t>요구사항 해석</a:t>
            </a:r>
            <a:endParaRPr lang="ko-KR" sz="1400" dirty="0"/>
          </a:p>
          <a:p>
            <a:pPr marL="342900" indent="-342900">
              <a:spcAft>
                <a:spcPts val="100"/>
              </a:spcAft>
              <a:buSzPct val="100000"/>
              <a:buChar char="●"/>
            </a:pPr>
            <a:r>
              <a:rPr lang="ko-KR" altLang="en-US" sz="1400" dirty="0">
                <a:solidFill>
                  <a:schemeClr val="tx1"/>
                </a:solidFill>
              </a:rPr>
              <a:t>직접 기술 판단</a:t>
            </a:r>
            <a:endParaRPr lang="ko-KR" sz="1400" dirty="0"/>
          </a:p>
          <a:p>
            <a:pPr marL="342900" indent="-342900">
              <a:spcAft>
                <a:spcPts val="100"/>
              </a:spcAft>
              <a:buSzPct val="100000"/>
              <a:buChar char="●"/>
            </a:pPr>
            <a:r>
              <a:rPr lang="ko-KR" altLang="en-US" sz="1400" dirty="0">
                <a:solidFill>
                  <a:schemeClr val="tx1"/>
                </a:solidFill>
              </a:rPr>
              <a:t>방법·도구</a:t>
            </a:r>
            <a:endParaRPr lang="ko-KR" sz="1400" dirty="0"/>
          </a:p>
          <a:p>
            <a:pPr marL="342900" indent="-342900">
              <a:spcAft>
                <a:spcPts val="100"/>
              </a:spcAft>
              <a:buSzPct val="100000"/>
              <a:buChar char="●"/>
            </a:pPr>
            <a:r>
              <a:rPr lang="ko-KR" altLang="en-US" sz="1400" dirty="0">
                <a:solidFill>
                  <a:schemeClr val="tx1"/>
                </a:solidFill>
              </a:rPr>
              <a:t>산출물</a:t>
            </a:r>
            <a:endParaRPr lang="ko-KR" sz="1400" dirty="0"/>
          </a:p>
          <a:p>
            <a:pPr marL="342900" indent="-342900">
              <a:spcAft>
                <a:spcPts val="100"/>
              </a:spcAft>
              <a:buSzPct val="100000"/>
              <a:buChar char="●"/>
            </a:pPr>
            <a:r>
              <a:rPr lang="ko-KR" altLang="en-US" sz="1400" dirty="0">
                <a:solidFill>
                  <a:schemeClr val="tx1"/>
                </a:solidFill>
              </a:rPr>
              <a:t>비교·검증</a:t>
            </a:r>
            <a:endParaRPr lang="ko-KR" sz="1400" dirty="0"/>
          </a:p>
          <a:p>
            <a:pPr marL="342900" indent="-342900">
              <a:spcAft>
                <a:spcPts val="100"/>
              </a:spcAft>
              <a:buSzPct val="100000"/>
              <a:buChar char="●"/>
            </a:pPr>
            <a:r>
              <a:rPr lang="ko-KR" altLang="en-US" sz="1400" dirty="0">
                <a:solidFill>
                  <a:schemeClr val="tx1"/>
                </a:solidFill>
              </a:rPr>
              <a:t>실패·수정</a:t>
            </a:r>
            <a:endParaRPr lang="ko-KR" sz="1400" dirty="0"/>
          </a:p>
          <a:p>
            <a:pPr marL="342900" indent="-342900">
              <a:spcAft>
                <a:spcPts val="100"/>
              </a:spcAft>
              <a:buSzPct val="100000"/>
              <a:buChar char="●"/>
            </a:pPr>
            <a:r>
              <a:rPr lang="ko-KR" altLang="en-US" sz="1400" dirty="0">
                <a:solidFill>
                  <a:schemeClr val="tx1"/>
                </a:solidFill>
              </a:rPr>
              <a:t>조직 활용</a:t>
            </a:r>
            <a:endParaRPr lang="ko-KR" sz="1400" dirty="0"/>
          </a:p>
        </p:txBody>
      </p:sp>
      <p:sp>
        <p:nvSpPr>
          <p:cNvPr id="8" name="card-80"/>
          <p:cNvSpPr/>
          <p:nvPr/>
        </p:nvSpPr>
        <p:spPr>
          <a:xfrm>
            <a:off x="4353458" y="1554480"/>
            <a:ext cx="3484778" cy="3611880"/>
          </a:xfrm>
          <a:prstGeom prst="roundRect">
            <a:avLst>
              <a:gd name="adj" fmla="val 3674"/>
            </a:avLst>
          </a:prstGeom>
          <a:solidFill>
            <a:schemeClr val="bg1"/>
          </a:solidFill>
          <a:ln w="9525">
            <a:solidFill>
              <a:srgbClr val="E1E7F2"/>
            </a:solidFill>
            <a:prstDash val="solid"/>
          </a:ln>
          <a:effectLst>
            <a:outerShdw sx="100000" sy="100000" kx="0" ky="0" algn="bl" rotWithShape="0" blurRad="127000" dist="25400" dir="5400000">
              <a:srgbClr val="0B1B33">
                <a:alpha val="10000"/>
              </a:srgbClr>
            </a:outerShdw>
          </a:effectLst>
        </p:spPr>
      </p:sp>
      <p:sp>
        <p:nvSpPr>
          <p:cNvPr id="9" name="text-81"/>
          <p:cNvSpPr txBox="1"/>
          <p:nvPr/>
        </p:nvSpPr>
        <p:spPr>
          <a:xfrm>
            <a:off x="4627778" y="1783080"/>
            <a:ext cx="293613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ko-KR" altLang="en-US" sz="1900" b="1" dirty="0">
                <a:solidFill>
                  <a:schemeClr val="tx1"/>
                </a:solidFill>
              </a:rPr>
              <a:t>산업팩 7</a:t>
            </a:r>
            <a:endParaRPr lang="ko-KR" sz="1900" dirty="0"/>
          </a:p>
        </p:txBody>
      </p:sp>
      <p:sp>
        <p:nvSpPr>
          <p:cNvPr id="10" name="text-82"/>
          <p:cNvSpPr txBox="1"/>
          <p:nvPr/>
        </p:nvSpPr>
        <p:spPr>
          <a:xfrm>
            <a:off x="4627778" y="2176272"/>
            <a:ext cx="293613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ko-KR" altLang="en-US" sz="1200" dirty="0">
                <a:solidFill>
                  <a:schemeClr val="accent3"/>
                </a:solidFill>
              </a:rPr>
              <a:t>관심 산업 2개까지 고름</a:t>
            </a:r>
            <a:endParaRPr lang="ko-KR" sz="1200" dirty="0"/>
          </a:p>
        </p:txBody>
      </p:sp>
      <p:sp>
        <p:nvSpPr>
          <p:cNvPr id="11" name="text-83"/>
          <p:cNvSpPr txBox="1"/>
          <p:nvPr/>
        </p:nvSpPr>
        <p:spPr>
          <a:xfrm>
            <a:off x="4627778" y="2560320"/>
            <a:ext cx="3027578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00"/>
              </a:spcAft>
              <a:buSzPct val="100000"/>
              <a:buChar char="●"/>
            </a:pPr>
            <a:r>
              <a:rPr lang="ko-KR" altLang="en-US" sz="1400" b="1" dirty="0">
                <a:solidFill>
                  <a:schemeClr val="accent1"/>
                </a:solidFill>
              </a:rPr>
              <a:t>플랫폼·온라인 서비스</a:t>
            </a:r>
            <a:endParaRPr lang="ko-KR" sz="1400" dirty="0"/>
          </a:p>
          <a:p>
            <a:pPr marL="342900" indent="-342900">
              <a:spcAft>
                <a:spcPts val="100"/>
              </a:spcAft>
              <a:buSzPct val="100000"/>
              <a:buChar char="●"/>
            </a:pPr>
            <a:r>
              <a:rPr lang="ko-KR" altLang="en-US" sz="1400" dirty="0">
                <a:solidFill>
                  <a:schemeClr val="tx1"/>
                </a:solidFill>
              </a:rPr>
              <a:t>금융·결제</a:t>
            </a:r>
            <a:endParaRPr lang="ko-KR" sz="1400" dirty="0"/>
          </a:p>
          <a:p>
            <a:pPr marL="342900" indent="-342900">
              <a:spcAft>
                <a:spcPts val="100"/>
              </a:spcAft>
              <a:buSzPct val="100000"/>
              <a:buChar char="●"/>
            </a:pPr>
            <a:r>
              <a:rPr lang="ko-KR" altLang="en-US" sz="1400" dirty="0">
                <a:solidFill>
                  <a:schemeClr val="tx1"/>
                </a:solidFill>
              </a:rPr>
              <a:t>게임·실시간 콘텐츠</a:t>
            </a:r>
            <a:endParaRPr lang="ko-KR" sz="1400" dirty="0"/>
          </a:p>
          <a:p>
            <a:pPr marL="342900" indent="-342900">
              <a:spcAft>
                <a:spcPts val="100"/>
              </a:spcAft>
              <a:buSzPct val="100000"/>
              <a:buChar char="●"/>
            </a:pPr>
            <a:r>
              <a:rPr lang="ko-KR" altLang="en-US" sz="1400" dirty="0">
                <a:solidFill>
                  <a:schemeClr val="tx1"/>
                </a:solidFill>
              </a:rPr>
              <a:t>기업용 소프트웨어·수탁 개발</a:t>
            </a:r>
            <a:endParaRPr lang="ko-KR" sz="1400" dirty="0"/>
          </a:p>
          <a:p>
            <a:pPr marL="342900" indent="-342900">
              <a:spcAft>
                <a:spcPts val="100"/>
              </a:spcAft>
              <a:buSzPct val="100000"/>
              <a:buChar char="●"/>
            </a:pPr>
            <a:r>
              <a:rPr lang="ko-KR" altLang="en-US" sz="1400" b="1" dirty="0">
                <a:solidFill>
                  <a:schemeClr val="accent1"/>
                </a:solidFill>
              </a:rPr>
              <a:t>자동차·모빌리티 소프트웨어</a:t>
            </a:r>
            <a:endParaRPr lang="ko-KR" sz="1400" dirty="0"/>
          </a:p>
          <a:p>
            <a:pPr marL="342900" indent="-342900">
              <a:spcAft>
                <a:spcPts val="100"/>
              </a:spcAft>
              <a:buSzPct val="100000"/>
              <a:buChar char="●"/>
            </a:pPr>
            <a:r>
              <a:rPr lang="ko-KR" altLang="en-US" sz="1400" b="1" dirty="0">
                <a:solidFill>
                  <a:schemeClr val="accent1"/>
                </a:solidFill>
              </a:rPr>
              <a:t>의료·보건 정보</a:t>
            </a:r>
            <a:endParaRPr lang="ko-KR" sz="1400" dirty="0"/>
          </a:p>
          <a:p>
            <a:pPr marL="342900" indent="-342900">
              <a:spcAft>
                <a:spcPts val="100"/>
              </a:spcAft>
              <a:buSzPct val="100000"/>
              <a:buChar char="●"/>
            </a:pPr>
            <a:r>
              <a:rPr lang="ko-KR" altLang="en-US" sz="1400" dirty="0">
                <a:solidFill>
                  <a:schemeClr val="tx1"/>
                </a:solidFill>
              </a:rPr>
              <a:t>공공·국방 정보화</a:t>
            </a:r>
            <a:endParaRPr lang="ko-KR" sz="1400" dirty="0"/>
          </a:p>
        </p:txBody>
      </p:sp>
      <p:sp>
        <p:nvSpPr>
          <p:cNvPr id="12" name="card-84"/>
          <p:cNvSpPr/>
          <p:nvPr/>
        </p:nvSpPr>
        <p:spPr>
          <a:xfrm>
            <a:off x="8158277" y="1554480"/>
            <a:ext cx="3484778" cy="3611880"/>
          </a:xfrm>
          <a:prstGeom prst="roundRect">
            <a:avLst>
              <a:gd name="adj" fmla="val 3674"/>
            </a:avLst>
          </a:prstGeom>
          <a:solidFill>
            <a:schemeClr val="bg1"/>
          </a:solidFill>
          <a:ln w="9525">
            <a:solidFill>
              <a:srgbClr val="E1E7F2"/>
            </a:solidFill>
            <a:prstDash val="solid"/>
          </a:ln>
          <a:effectLst>
            <a:outerShdw sx="100000" sy="100000" kx="0" ky="0" algn="bl" rotWithShape="0" blurRad="127000" dist="25400" dir="5400000">
              <a:srgbClr val="0B1B33">
                <a:alpha val="10000"/>
              </a:srgbClr>
            </a:outerShdw>
          </a:effectLst>
        </p:spPr>
      </p:sp>
      <p:sp>
        <p:nvSpPr>
          <p:cNvPr id="13" name="text-85"/>
          <p:cNvSpPr txBox="1"/>
          <p:nvPr/>
        </p:nvSpPr>
        <p:spPr>
          <a:xfrm>
            <a:off x="8432597" y="1783080"/>
            <a:ext cx="293613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ko-KR" altLang="en-US" sz="1900" b="1" dirty="0">
                <a:solidFill>
                  <a:schemeClr val="tx1"/>
                </a:solidFill>
              </a:rPr>
              <a:t>역할팩 8</a:t>
            </a:r>
            <a:endParaRPr lang="ko-KR" sz="1900" dirty="0"/>
          </a:p>
        </p:txBody>
      </p:sp>
      <p:sp>
        <p:nvSpPr>
          <p:cNvPr id="14" name="text-86"/>
          <p:cNvSpPr txBox="1"/>
          <p:nvPr/>
        </p:nvSpPr>
        <p:spPr>
          <a:xfrm>
            <a:off x="8432597" y="2176272"/>
            <a:ext cx="293613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ko-KR" altLang="en-US" sz="1200" dirty="0">
                <a:solidFill>
                  <a:schemeClr val="accent3"/>
                </a:solidFill>
              </a:rPr>
              <a:t>관심 역할 2개까지 고름</a:t>
            </a:r>
            <a:endParaRPr lang="ko-KR" sz="1200" dirty="0"/>
          </a:p>
        </p:txBody>
      </p:sp>
      <p:sp>
        <p:nvSpPr>
          <p:cNvPr id="15" name="text-87"/>
          <p:cNvSpPr txBox="1"/>
          <p:nvPr/>
        </p:nvSpPr>
        <p:spPr>
          <a:xfrm>
            <a:off x="8432597" y="2560320"/>
            <a:ext cx="3027578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00"/>
              </a:spcAft>
              <a:buSzPct val="100000"/>
              <a:buChar char="●"/>
            </a:pPr>
            <a:r>
              <a:rPr lang="ko-KR" altLang="en-US" sz="1400" b="1" dirty="0">
                <a:solidFill>
                  <a:schemeClr val="accent1"/>
                </a:solidFill>
              </a:rPr>
              <a:t>설계·개발</a:t>
            </a:r>
            <a:endParaRPr lang="ko-KR" sz="1400" dirty="0"/>
          </a:p>
          <a:p>
            <a:pPr marL="342900" indent="-342900">
              <a:spcAft>
                <a:spcPts val="100"/>
              </a:spcAft>
              <a:buSzPct val="100000"/>
              <a:buChar char="●"/>
            </a:pPr>
            <a:r>
              <a:rPr lang="ko-KR" altLang="en-US" sz="1400" b="1" dirty="0">
                <a:solidFill>
                  <a:schemeClr val="accent1"/>
                </a:solidFill>
              </a:rPr>
              <a:t>해석·예측</a:t>
            </a:r>
            <a:endParaRPr lang="ko-KR" sz="1400" dirty="0"/>
          </a:p>
          <a:p>
            <a:pPr marL="342900" indent="-342900">
              <a:spcAft>
                <a:spcPts val="100"/>
              </a:spcAft>
              <a:buSzPct val="100000"/>
              <a:buChar char="●"/>
            </a:pPr>
            <a:r>
              <a:rPr lang="ko-KR" altLang="en-US" sz="1400" dirty="0">
                <a:solidFill>
                  <a:schemeClr val="tx1"/>
                </a:solidFill>
              </a:rPr>
              <a:t>시험·검증</a:t>
            </a:r>
            <a:endParaRPr lang="ko-KR" sz="1400" dirty="0"/>
          </a:p>
          <a:p>
            <a:pPr marL="342900" indent="-342900">
              <a:spcAft>
                <a:spcPts val="100"/>
              </a:spcAft>
              <a:buSzPct val="100000"/>
              <a:buChar char="●"/>
            </a:pPr>
            <a:r>
              <a:rPr lang="ko-KR" altLang="en-US" sz="1400" dirty="0">
                <a:solidFill>
                  <a:schemeClr val="tx1"/>
                </a:solidFill>
              </a:rPr>
              <a:t>빌드·배포 자동화</a:t>
            </a:r>
            <a:endParaRPr lang="ko-KR" sz="1400" dirty="0"/>
          </a:p>
          <a:p>
            <a:pPr marL="342900" indent="-342900">
              <a:spcAft>
                <a:spcPts val="100"/>
              </a:spcAft>
              <a:buSzPct val="100000"/>
              <a:buChar char="●"/>
            </a:pPr>
            <a:r>
              <a:rPr lang="ko-KR" altLang="en-US" sz="1400" dirty="0">
                <a:solidFill>
                  <a:schemeClr val="tx1"/>
                </a:solidFill>
              </a:rPr>
              <a:t>서비스 운영</a:t>
            </a:r>
            <a:endParaRPr lang="ko-KR" sz="1400" dirty="0"/>
          </a:p>
          <a:p>
            <a:pPr marL="342900" indent="-342900">
              <a:spcAft>
                <a:spcPts val="100"/>
              </a:spcAft>
              <a:buSzPct val="100000"/>
              <a:buChar char="●"/>
            </a:pPr>
            <a:r>
              <a:rPr lang="ko-KR" altLang="en-US" sz="1400" dirty="0">
                <a:solidFill>
                  <a:schemeClr val="tx1"/>
                </a:solidFill>
              </a:rPr>
              <a:t>통합·조정</a:t>
            </a:r>
            <a:endParaRPr lang="ko-KR" sz="1400" dirty="0"/>
          </a:p>
          <a:p>
            <a:pPr marL="342900" indent="-342900">
              <a:spcAft>
                <a:spcPts val="100"/>
              </a:spcAft>
              <a:buSzPct val="100000"/>
              <a:buChar char="●"/>
            </a:pPr>
            <a:r>
              <a:rPr lang="ko-KR" altLang="en-US" sz="1400" b="1" dirty="0">
                <a:solidFill>
                  <a:schemeClr val="accent1"/>
                </a:solidFill>
              </a:rPr>
              <a:t>탐색·연구</a:t>
            </a:r>
            <a:endParaRPr lang="ko-KR" sz="1400" dirty="0"/>
          </a:p>
          <a:p>
            <a:pPr marL="342900" indent="-342900">
              <a:spcAft>
                <a:spcPts val="100"/>
              </a:spcAft>
              <a:buSzPct val="100000"/>
              <a:buChar char="●"/>
            </a:pPr>
            <a:r>
              <a:rPr lang="ko-KR" altLang="en-US" sz="1400" dirty="0">
                <a:solidFill>
                  <a:schemeClr val="tx1"/>
                </a:solidFill>
              </a:rPr>
              <a:t>품질·신뢰성</a:t>
            </a:r>
            <a:endParaRPr lang="ko-KR" sz="1400" dirty="0"/>
          </a:p>
        </p:txBody>
      </p:sp>
      <p:sp>
        <p:nvSpPr>
          <p:cNvPr id="16" name="text-88"/>
          <p:cNvSpPr txBox="1"/>
          <p:nvPr/>
        </p:nvSpPr>
        <p:spPr>
          <a:xfrm>
            <a:off x="548640" y="5440680"/>
            <a:ext cx="10972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ko-KR" altLang="en-US" sz="1400" b="1" dirty="0">
                <a:solidFill>
                  <a:schemeClr val="tx1"/>
                </a:solidFill>
              </a:rPr>
              <a:t>경험 수준</a:t>
            </a:r>
            <a:endParaRPr lang="ko-KR" sz="1400" dirty="0"/>
          </a:p>
        </p:txBody>
      </p:sp>
      <p:sp>
        <p:nvSpPr>
          <p:cNvPr id="17" name="level-89"/>
          <p:cNvSpPr/>
          <p:nvPr/>
        </p:nvSpPr>
        <p:spPr>
          <a:xfrm>
            <a:off x="1691640" y="5440680"/>
            <a:ext cx="2384984" cy="685800"/>
          </a:xfrm>
          <a:prstGeom prst="roundRect">
            <a:avLst>
              <a:gd name="adj" fmla="val 13333"/>
            </a:avLst>
          </a:prstGeom>
          <a:solidFill>
            <a:schemeClr val="accent2"/>
          </a:solidFill>
          <a:ln/>
        </p:spPr>
      </p:sp>
      <p:sp>
        <p:nvSpPr>
          <p:cNvPr id="18" name="text-90"/>
          <p:cNvSpPr txBox="1"/>
          <p:nvPr/>
        </p:nvSpPr>
        <p:spPr>
          <a:xfrm>
            <a:off x="1856232" y="5440680"/>
            <a:ext cx="2055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ko-KR" altLang="en-US" sz="1300" b="1" dirty="0">
                <a:solidFill>
                  <a:schemeClr val="tx1"/>
                </a:solidFill>
              </a:rPr>
              <a:t>없다</a:t>
            </a:r>
            <a:endParaRPr lang="ko-KR" sz="1300" dirty="0"/>
          </a:p>
        </p:txBody>
      </p:sp>
      <p:sp>
        <p:nvSpPr>
          <p:cNvPr id="19" name="level-91"/>
          <p:cNvSpPr/>
          <p:nvPr/>
        </p:nvSpPr>
        <p:spPr>
          <a:xfrm>
            <a:off x="4213784" y="5440680"/>
            <a:ext cx="2384984" cy="685800"/>
          </a:xfrm>
          <a:prstGeom prst="roundRect">
            <a:avLst>
              <a:gd name="adj" fmla="val 13333"/>
            </a:avLst>
          </a:prstGeom>
          <a:solidFill>
            <a:schemeClr val="accent2"/>
          </a:solidFill>
          <a:ln/>
        </p:spPr>
      </p:sp>
      <p:sp>
        <p:nvSpPr>
          <p:cNvPr id="20" name="text-92"/>
          <p:cNvSpPr txBox="1"/>
          <p:nvPr/>
        </p:nvSpPr>
        <p:spPr>
          <a:xfrm>
            <a:off x="4378376" y="5440680"/>
            <a:ext cx="2055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ko-KR" altLang="en-US" sz="1300" b="1" dirty="0">
                <a:solidFill>
                  <a:schemeClr val="tx1"/>
                </a:solidFill>
              </a:rPr>
              <a:t>접했다</a:t>
            </a:r>
            <a:endParaRPr lang="ko-KR" sz="1300" dirty="0"/>
          </a:p>
          <a:p>
            <a:pPr indent="0" marL="0">
              <a:buNone/>
            </a:pPr>
            <a:r>
              <a:rPr lang="ko-KR" altLang="en-US" sz="1100" dirty="0">
                <a:solidFill>
                  <a:schemeClr val="tx1"/>
                </a:solidFill>
              </a:rPr>
              <a:t>남이 한 것을 보거나 받아 썼다</a:t>
            </a:r>
            <a:endParaRPr lang="ko-KR" sz="1300" dirty="0"/>
          </a:p>
        </p:txBody>
      </p:sp>
      <p:sp>
        <p:nvSpPr>
          <p:cNvPr id="21" name="level-93"/>
          <p:cNvSpPr/>
          <p:nvPr/>
        </p:nvSpPr>
        <p:spPr>
          <a:xfrm>
            <a:off x="6735928" y="5440680"/>
            <a:ext cx="2384984" cy="685800"/>
          </a:xfrm>
          <a:prstGeom prst="roundRect">
            <a:avLst>
              <a:gd name="adj" fmla="val 13333"/>
            </a:avLst>
          </a:prstGeom>
          <a:solidFill>
            <a:schemeClr val="accent2"/>
          </a:solidFill>
          <a:ln/>
        </p:spPr>
      </p:sp>
      <p:sp>
        <p:nvSpPr>
          <p:cNvPr id="22" name="text-94"/>
          <p:cNvSpPr txBox="1"/>
          <p:nvPr/>
        </p:nvSpPr>
        <p:spPr>
          <a:xfrm>
            <a:off x="6900520" y="5440680"/>
            <a:ext cx="2055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ko-KR" altLang="en-US" sz="1300" b="1" dirty="0">
                <a:solidFill>
                  <a:schemeClr val="tx1"/>
                </a:solidFill>
              </a:rPr>
              <a:t>수행했다</a:t>
            </a:r>
            <a:endParaRPr lang="ko-KR" sz="1300" dirty="0"/>
          </a:p>
          <a:p>
            <a:pPr indent="0" marL="0">
              <a:buNone/>
            </a:pPr>
            <a:r>
              <a:rPr lang="ko-KR" altLang="en-US" sz="1100" dirty="0">
                <a:solidFill>
                  <a:schemeClr val="tx1"/>
                </a:solidFill>
              </a:rPr>
              <a:t>내가 그 일을 했다</a:t>
            </a:r>
            <a:endParaRPr lang="ko-KR" sz="1300" dirty="0"/>
          </a:p>
        </p:txBody>
      </p:sp>
      <p:sp>
        <p:nvSpPr>
          <p:cNvPr id="23" name="level-95"/>
          <p:cNvSpPr/>
          <p:nvPr/>
        </p:nvSpPr>
        <p:spPr>
          <a:xfrm>
            <a:off x="9258071" y="5440680"/>
            <a:ext cx="2384984" cy="685800"/>
          </a:xfrm>
          <a:prstGeom prst="roundRect">
            <a:avLst>
              <a:gd name="adj" fmla="val 13333"/>
            </a:avLst>
          </a:prstGeom>
          <a:solidFill>
            <a:schemeClr val="accent1"/>
          </a:solidFill>
          <a:ln/>
        </p:spPr>
      </p:sp>
      <p:sp>
        <p:nvSpPr>
          <p:cNvPr id="24" name="text-96"/>
          <p:cNvSpPr txBox="1"/>
          <p:nvPr/>
        </p:nvSpPr>
        <p:spPr>
          <a:xfrm>
            <a:off x="9422663" y="5440680"/>
            <a:ext cx="2055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ko-KR" altLang="en-US" sz="1300" b="1" dirty="0">
                <a:solidFill>
                  <a:schemeClr val="bg1"/>
                </a:solidFill>
              </a:rPr>
              <a:t>소유했다</a:t>
            </a:r>
            <a:endParaRPr lang="ko-KR" sz="1300" dirty="0"/>
          </a:p>
          <a:p>
            <a:pPr indent="0" marL="0">
              <a:buNone/>
            </a:pPr>
            <a:r>
              <a:rPr lang="ko-KR" altLang="en-US" sz="1100" dirty="0">
                <a:solidFill>
                  <a:schemeClr val="bg1"/>
                </a:solidFill>
              </a:rPr>
              <a:t>내가 정하고 그 결과가 쓰였다</a:t>
            </a:r>
            <a:endParaRPr lang="ko-KR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364224"/>
            <a:ext cx="54864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3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329184"/>
            <a:ext cx="1109441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ko-KR" altLang="en-US" sz="1300" b="1" dirty="0">
                <a:solidFill>
                  <a:schemeClr val="accent1"/>
                </a:solidFill>
              </a:rPr>
              <a:t>화면 1 · 학교 입구</a:t>
            </a:r>
            <a:endParaRPr lang="ko-KR" sz="13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603504"/>
            <a:ext cx="11094415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ko-KR" altLang="en-US" sz="3400" b="1" dirty="0">
                <a:solidFill>
                  <a:schemeClr val="tx1"/>
                </a:solidFill>
              </a:rPr>
              <a:t>전주대 학생 전용 입구</a:t>
            </a:r>
            <a:endParaRPr lang="ko-KR" sz="3400" dirty="0"/>
          </a:p>
        </p:txBody>
      </p:sp>
      <p:sp>
        <p:nvSpPr>
          <p:cNvPr id="4" name="card-97"/>
          <p:cNvSpPr/>
          <p:nvPr/>
        </p:nvSpPr>
        <p:spPr>
          <a:xfrm>
            <a:off x="548640" y="1536192"/>
            <a:ext cx="7534656" cy="4024197"/>
          </a:xfrm>
          <a:prstGeom prst="roundRect">
            <a:avLst>
              <a:gd name="adj" fmla="val 2272"/>
            </a:avLst>
          </a:prstGeom>
          <a:solidFill>
            <a:schemeClr val="bg1"/>
          </a:solidFill>
          <a:ln w="9525">
            <a:solidFill>
              <a:srgbClr val="E1E7F2"/>
            </a:solidFill>
            <a:prstDash val="solid"/>
          </a:ln>
          <a:effectLst>
            <a:outerShdw sx="100000" sy="100000" kx="0" ky="0" algn="bl" rotWithShape="0" blurRad="127000" dist="25400" dir="5400000">
              <a:srgbClr val="0B1B33">
                <a:alpha val="10000"/>
              </a:srgbClr>
            </a:outerShdw>
          </a:effectLst>
        </p:spPr>
      </p:sp>
      <p:pic>
        <p:nvPicPr>
          <p:cNvPr id="5" name="screenshot-98" descr="/tmp/claude-0/-home-user/bc48fe73-cdf5-5b66-955c-b28a8a6207a5/scratchpad/shots/s_campu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12648" y="1600200"/>
            <a:ext cx="7406640" cy="3896181"/>
          </a:xfrm>
          <a:prstGeom prst="rect">
            <a:avLst/>
          </a:prstGeom>
        </p:spPr>
      </p:pic>
      <p:sp>
        <p:nvSpPr>
          <p:cNvPr id="6" name="text-99"/>
          <p:cNvSpPr txBox="1"/>
          <p:nvPr/>
        </p:nvSpPr>
        <p:spPr>
          <a:xfrm>
            <a:off x="612648" y="5642685"/>
            <a:ext cx="7406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ko-KR" altLang="en-US" sz="1100" dirty="0">
                <a:solidFill>
                  <a:schemeClr val="accent3"/>
                </a:solidFill>
              </a:rPr>
              <a:t>실제 화면 · 로컬 시험 환경에서 캡처</a:t>
            </a:r>
            <a:endParaRPr lang="ko-KR" sz="1100" dirty="0"/>
          </a:p>
        </p:txBody>
      </p:sp>
      <p:sp>
        <p:nvSpPr>
          <p:cNvPr id="7" name="badge-100"/>
          <p:cNvSpPr/>
          <p:nvPr/>
        </p:nvSpPr>
        <p:spPr>
          <a:xfrm>
            <a:off x="8458200" y="1645920"/>
            <a:ext cx="438912" cy="438912"/>
          </a:xfrm>
          <a:prstGeom prst="roundRect">
            <a:avLst>
              <a:gd name="adj" fmla="val 28000"/>
            </a:avLst>
          </a:prstGeom>
          <a:solidFill>
            <a:schemeClr val="accent1"/>
          </a:solidFill>
          <a:ln/>
        </p:spPr>
      </p:sp>
      <p:sp>
        <p:nvSpPr>
          <p:cNvPr id="8" name="badge-num-101"/>
          <p:cNvSpPr txBox="1"/>
          <p:nvPr/>
        </p:nvSpPr>
        <p:spPr>
          <a:xfrm>
            <a:off x="8458200" y="1645920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ko-KR" altLang="en-US" sz="1600" b="1" dirty="0">
                <a:solidFill>
                  <a:schemeClr val="bg1"/>
                </a:solidFill>
              </a:rPr>
              <a:t>1</a:t>
            </a:r>
            <a:endParaRPr lang="ko-KR" sz="1600" dirty="0"/>
          </a:p>
        </p:txBody>
      </p:sp>
      <p:sp>
        <p:nvSpPr>
          <p:cNvPr id="9" name="text-102"/>
          <p:cNvSpPr txBox="1"/>
          <p:nvPr/>
        </p:nvSpPr>
        <p:spPr>
          <a:xfrm>
            <a:off x="9052560" y="1627632"/>
            <a:ext cx="2590495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ko-KR" altLang="en-US" sz="1500" b="1" dirty="0">
                <a:solidFill>
                  <a:schemeClr val="tx1"/>
                </a:solidFill>
              </a:rPr>
              <a:t>전주대학교 학생 전용</a:t>
            </a:r>
            <a:endParaRPr lang="ko-KR" sz="1500" dirty="0"/>
          </a:p>
        </p:txBody>
      </p:sp>
      <p:sp>
        <p:nvSpPr>
          <p:cNvPr id="10" name="text-103"/>
          <p:cNvSpPr txBox="1"/>
          <p:nvPr/>
        </p:nvSpPr>
        <p:spPr>
          <a:xfrm>
            <a:off x="9052560" y="1993392"/>
            <a:ext cx="2590495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ko-KR" altLang="en-US" sz="1300" dirty="0">
                <a:solidFill>
                  <a:schemeClr val="accent3"/>
                </a:solidFill>
              </a:rPr>
              <a:t>학교 이름과 CareerMatri가 함께 보이는 입구입니다.</a:t>
            </a:r>
            <a:endParaRPr lang="ko-KR" sz="1300" dirty="0"/>
          </a:p>
        </p:txBody>
      </p:sp>
      <p:sp>
        <p:nvSpPr>
          <p:cNvPr id="11" name="badge-104"/>
          <p:cNvSpPr/>
          <p:nvPr/>
        </p:nvSpPr>
        <p:spPr>
          <a:xfrm>
            <a:off x="8458200" y="2743200"/>
            <a:ext cx="438912" cy="438912"/>
          </a:xfrm>
          <a:prstGeom prst="roundRect">
            <a:avLst>
              <a:gd name="adj" fmla="val 28000"/>
            </a:avLst>
          </a:prstGeom>
          <a:solidFill>
            <a:schemeClr val="accent1"/>
          </a:solidFill>
          <a:ln/>
        </p:spPr>
      </p:sp>
      <p:sp>
        <p:nvSpPr>
          <p:cNvPr id="12" name="badge-num-105"/>
          <p:cNvSpPr txBox="1"/>
          <p:nvPr/>
        </p:nvSpPr>
        <p:spPr>
          <a:xfrm>
            <a:off x="8458200" y="2743200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ko-KR" altLang="en-US" sz="1600" b="1" dirty="0">
                <a:solidFill>
                  <a:schemeClr val="bg1"/>
                </a:solidFill>
              </a:rPr>
              <a:t>2</a:t>
            </a:r>
            <a:endParaRPr lang="ko-KR" sz="1600" dirty="0"/>
          </a:p>
        </p:txBody>
      </p:sp>
      <p:sp>
        <p:nvSpPr>
          <p:cNvPr id="13" name="text-106"/>
          <p:cNvSpPr txBox="1"/>
          <p:nvPr/>
        </p:nvSpPr>
        <p:spPr>
          <a:xfrm>
            <a:off x="9052560" y="2724912"/>
            <a:ext cx="2590495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ko-KR" altLang="en-US" sz="1500" b="1" dirty="0">
                <a:solidFill>
                  <a:schemeClr val="tx1"/>
                </a:solidFill>
              </a:rPr>
              <a:t>단과대학별로 내 학과 찾기</a:t>
            </a:r>
            <a:endParaRPr lang="ko-KR" sz="1500" dirty="0"/>
          </a:p>
        </p:txBody>
      </p:sp>
      <p:sp>
        <p:nvSpPr>
          <p:cNvPr id="14" name="text-107"/>
          <p:cNvSpPr txBox="1"/>
          <p:nvPr/>
        </p:nvSpPr>
        <p:spPr>
          <a:xfrm>
            <a:off x="9052560" y="3090672"/>
            <a:ext cx="2590495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ko-KR" altLang="en-US" sz="1300" dirty="0">
                <a:solidFill>
                  <a:schemeClr val="accent3"/>
                </a:solidFill>
              </a:rPr>
              <a:t>인공지능학부와 부트캠프 자리가 목록에 있습니다.</a:t>
            </a:r>
            <a:endParaRPr lang="ko-KR" sz="1300" dirty="0"/>
          </a:p>
        </p:txBody>
      </p:sp>
      <p:sp>
        <p:nvSpPr>
          <p:cNvPr id="15" name="badge-108"/>
          <p:cNvSpPr/>
          <p:nvPr/>
        </p:nvSpPr>
        <p:spPr>
          <a:xfrm>
            <a:off x="8458200" y="3840480"/>
            <a:ext cx="438912" cy="438912"/>
          </a:xfrm>
          <a:prstGeom prst="roundRect">
            <a:avLst>
              <a:gd name="adj" fmla="val 28000"/>
            </a:avLst>
          </a:prstGeom>
          <a:solidFill>
            <a:schemeClr val="accent1"/>
          </a:solidFill>
          <a:ln/>
        </p:spPr>
      </p:sp>
      <p:sp>
        <p:nvSpPr>
          <p:cNvPr id="16" name="badge-num-109"/>
          <p:cNvSpPr txBox="1"/>
          <p:nvPr/>
        </p:nvSpPr>
        <p:spPr>
          <a:xfrm>
            <a:off x="8458200" y="3840480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ko-KR" altLang="en-US" sz="1600" b="1" dirty="0">
                <a:solidFill>
                  <a:schemeClr val="bg1"/>
                </a:solidFill>
              </a:rPr>
              <a:t>3</a:t>
            </a:r>
            <a:endParaRPr lang="ko-KR" sz="1600" dirty="0"/>
          </a:p>
        </p:txBody>
      </p:sp>
      <p:sp>
        <p:nvSpPr>
          <p:cNvPr id="17" name="text-110"/>
          <p:cNvSpPr txBox="1"/>
          <p:nvPr/>
        </p:nvSpPr>
        <p:spPr>
          <a:xfrm>
            <a:off x="9052560" y="3822192"/>
            <a:ext cx="2590495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ko-KR" altLang="en-US" sz="1500" b="1" dirty="0">
                <a:solidFill>
                  <a:schemeClr val="tx1"/>
                </a:solidFill>
              </a:rPr>
              <a:t>학교 계정으로 로그인</a:t>
            </a:r>
            <a:endParaRPr lang="ko-KR" sz="1500" dirty="0"/>
          </a:p>
        </p:txBody>
      </p:sp>
      <p:sp>
        <p:nvSpPr>
          <p:cNvPr id="18" name="text-111"/>
          <p:cNvSpPr txBox="1"/>
          <p:nvPr/>
        </p:nvSpPr>
        <p:spPr>
          <a:xfrm>
            <a:off x="9052560" y="4187952"/>
            <a:ext cx="2590495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ko-KR" altLang="en-US" sz="1300" dirty="0">
                <a:solidFill>
                  <a:schemeClr val="accent3"/>
                </a:solidFill>
              </a:rPr>
              <a:t>담당자가 발급한 아이디로 들어옵니다.</a:t>
            </a:r>
            <a:endParaRPr lang="ko-KR" sz="1300" dirty="0"/>
          </a:p>
        </p:txBody>
      </p:sp>
      <p:sp>
        <p:nvSpPr>
          <p:cNvPr id="19" name="card-112"/>
          <p:cNvSpPr/>
          <p:nvPr/>
        </p:nvSpPr>
        <p:spPr>
          <a:xfrm>
            <a:off x="8458200" y="4983480"/>
            <a:ext cx="3184855" cy="914400"/>
          </a:xfrm>
          <a:prstGeom prst="roundRect">
            <a:avLst>
              <a:gd name="adj" fmla="val 14000"/>
            </a:avLst>
          </a:prstGeom>
          <a:solidFill>
            <a:schemeClr val="accent2"/>
          </a:solidFill>
          <a:ln/>
        </p:spPr>
      </p:sp>
      <p:sp>
        <p:nvSpPr>
          <p:cNvPr id="20" name="text-113"/>
          <p:cNvSpPr txBox="1"/>
          <p:nvPr/>
        </p:nvSpPr>
        <p:spPr>
          <a:xfrm>
            <a:off x="8641080" y="5074920"/>
            <a:ext cx="281909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ko-KR" altLang="en-US" sz="1300" b="1" dirty="0">
                <a:solidFill>
                  <a:schemeClr val="accent1"/>
                </a:solidFill>
              </a:rPr>
              <a:t>학생 입구 주소</a:t>
            </a:r>
            <a:endParaRPr lang="ko-KR" sz="1300" dirty="0"/>
          </a:p>
          <a:p>
            <a:pPr indent="0" marL="0">
              <a:buNone/>
            </a:pPr>
            <a:r>
              <a:rPr lang="ko-KR" altLang="en-US" sz="1300" dirty="0">
                <a:solidFill>
                  <a:schemeClr val="tx1"/>
                </a:solidFill>
              </a:rPr>
              <a:t>app.careermatri.com/campus/jju</a:t>
            </a:r>
            <a:endParaRPr lang="ko-KR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364224"/>
            <a:ext cx="54864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3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329184"/>
            <a:ext cx="1109441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ko-KR" altLang="en-US" sz="1300" b="1" dirty="0">
                <a:solidFill>
                  <a:schemeClr val="accent1"/>
                </a:solidFill>
              </a:rPr>
              <a:t>화면 2 · 결과지</a:t>
            </a:r>
            <a:endParaRPr lang="ko-KR" sz="13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603504"/>
            <a:ext cx="11094415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ko-KR" altLang="en-US" sz="3400" b="1" dirty="0">
                <a:solidFill>
                  <a:schemeClr val="tx1"/>
                </a:solidFill>
              </a:rPr>
              <a:t>결과지는 다음 할 일까지 적습니다</a:t>
            </a:r>
            <a:endParaRPr lang="ko-KR" sz="3400" dirty="0"/>
          </a:p>
        </p:txBody>
      </p:sp>
      <p:sp>
        <p:nvSpPr>
          <p:cNvPr id="4" name="card-114"/>
          <p:cNvSpPr/>
          <p:nvPr/>
        </p:nvSpPr>
        <p:spPr>
          <a:xfrm>
            <a:off x="548640" y="1508760"/>
            <a:ext cx="5614416" cy="4278092"/>
          </a:xfrm>
          <a:prstGeom prst="roundRect">
            <a:avLst>
              <a:gd name="adj" fmla="val 2137"/>
            </a:avLst>
          </a:prstGeom>
          <a:solidFill>
            <a:schemeClr val="bg1"/>
          </a:solidFill>
          <a:ln w="9525">
            <a:solidFill>
              <a:srgbClr val="E1E7F2"/>
            </a:solidFill>
            <a:prstDash val="solid"/>
          </a:ln>
          <a:effectLst>
            <a:outerShdw sx="100000" sy="100000" kx="0" ky="0" algn="bl" rotWithShape="0" blurRad="127000" dist="25400" dir="5400000">
              <a:srgbClr val="0B1B33">
                <a:alpha val="10000"/>
              </a:srgbClr>
            </a:outerShdw>
          </a:effectLst>
        </p:spPr>
      </p:sp>
      <p:pic>
        <p:nvPicPr>
          <p:cNvPr id="5" name="screenshot-115" descr="/tmp/claude-0/-home-user/bc48fe73-cdf5-5b66-955c-b28a8a6207a5/scratchpad/shots/s_resul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12648" y="1572768"/>
            <a:ext cx="5486400" cy="4150076"/>
          </a:xfrm>
          <a:prstGeom prst="rect">
            <a:avLst/>
          </a:prstGeom>
        </p:spPr>
      </p:pic>
      <p:sp>
        <p:nvSpPr>
          <p:cNvPr id="6" name="text-116"/>
          <p:cNvSpPr txBox="1"/>
          <p:nvPr/>
        </p:nvSpPr>
        <p:spPr>
          <a:xfrm>
            <a:off x="612648" y="5869148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ko-KR" altLang="en-US" sz="1100" dirty="0">
                <a:solidFill>
                  <a:schemeClr val="accent3"/>
                </a:solidFill>
              </a:rPr>
              <a:t>컴퓨터공학과 시험 계정 결과 · 같은 컴퓨터·소프트웨어 Core</a:t>
            </a:r>
            <a:endParaRPr lang="ko-KR" sz="1100" dirty="0"/>
          </a:p>
        </p:txBody>
      </p:sp>
      <p:sp>
        <p:nvSpPr>
          <p:cNvPr id="7" name="badge-117"/>
          <p:cNvSpPr/>
          <p:nvPr/>
        </p:nvSpPr>
        <p:spPr>
          <a:xfrm>
            <a:off x="6583680" y="1600200"/>
            <a:ext cx="402336" cy="402336"/>
          </a:xfrm>
          <a:prstGeom prst="roundRect">
            <a:avLst>
              <a:gd name="adj" fmla="val 28000"/>
            </a:avLst>
          </a:prstGeom>
          <a:solidFill>
            <a:schemeClr val="accent1"/>
          </a:solidFill>
          <a:ln/>
        </p:spPr>
      </p:sp>
      <p:sp>
        <p:nvSpPr>
          <p:cNvPr id="8" name="badge-num-118"/>
          <p:cNvSpPr txBox="1"/>
          <p:nvPr/>
        </p:nvSpPr>
        <p:spPr>
          <a:xfrm>
            <a:off x="6583680" y="1600200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ko-KR" altLang="en-US" sz="1500" b="1" dirty="0">
                <a:solidFill>
                  <a:schemeClr val="bg1"/>
                </a:solidFill>
              </a:rPr>
              <a:t>1</a:t>
            </a:r>
            <a:endParaRPr lang="ko-KR" sz="1500" dirty="0"/>
          </a:p>
        </p:txBody>
      </p:sp>
      <p:sp>
        <p:nvSpPr>
          <p:cNvPr id="9" name="text-119"/>
          <p:cNvSpPr txBox="1"/>
          <p:nvPr/>
        </p:nvSpPr>
        <p:spPr>
          <a:xfrm>
            <a:off x="7132320" y="1581912"/>
            <a:ext cx="451073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ko-KR" altLang="en-US" sz="1500" b="1" dirty="0">
                <a:solidFill>
                  <a:schemeClr val="tx1"/>
                </a:solidFill>
              </a:rPr>
              <a:t>현재 상태</a:t>
            </a:r>
            <a:endParaRPr lang="ko-KR" sz="1500" dirty="0"/>
          </a:p>
        </p:txBody>
      </p:sp>
      <p:sp>
        <p:nvSpPr>
          <p:cNvPr id="10" name="text-120"/>
          <p:cNvSpPr txBox="1"/>
          <p:nvPr/>
        </p:nvSpPr>
        <p:spPr>
          <a:xfrm>
            <a:off x="7132320" y="1892808"/>
            <a:ext cx="4510735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ko-KR" altLang="en-US" sz="1200" dirty="0">
                <a:solidFill>
                  <a:schemeClr val="accent3"/>
                </a:solidFill>
              </a:rPr>
              <a:t>확인된 영역과 정리만 남은 일을 먼저 보여 줍니다.</a:t>
            </a:r>
            <a:endParaRPr lang="ko-KR" sz="1200" dirty="0"/>
          </a:p>
        </p:txBody>
      </p:sp>
      <p:sp>
        <p:nvSpPr>
          <p:cNvPr id="11" name="badge-121"/>
          <p:cNvSpPr/>
          <p:nvPr/>
        </p:nvSpPr>
        <p:spPr>
          <a:xfrm>
            <a:off x="6583680" y="2386584"/>
            <a:ext cx="402336" cy="402336"/>
          </a:xfrm>
          <a:prstGeom prst="roundRect">
            <a:avLst>
              <a:gd name="adj" fmla="val 28000"/>
            </a:avLst>
          </a:prstGeom>
          <a:solidFill>
            <a:schemeClr val="accent1"/>
          </a:solidFill>
          <a:ln/>
        </p:spPr>
      </p:sp>
      <p:sp>
        <p:nvSpPr>
          <p:cNvPr id="12" name="badge-num-122"/>
          <p:cNvSpPr txBox="1"/>
          <p:nvPr/>
        </p:nvSpPr>
        <p:spPr>
          <a:xfrm>
            <a:off x="6583680" y="2386584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ko-KR" altLang="en-US" sz="1500" b="1" dirty="0">
                <a:solidFill>
                  <a:schemeClr val="bg1"/>
                </a:solidFill>
              </a:rPr>
              <a:t>2</a:t>
            </a:r>
            <a:endParaRPr lang="ko-KR" sz="1500" dirty="0"/>
          </a:p>
        </p:txBody>
      </p:sp>
      <p:sp>
        <p:nvSpPr>
          <p:cNvPr id="13" name="text-123"/>
          <p:cNvSpPr txBox="1"/>
          <p:nvPr/>
        </p:nvSpPr>
        <p:spPr>
          <a:xfrm>
            <a:off x="7132320" y="2368296"/>
            <a:ext cx="451073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ko-KR" altLang="en-US" sz="1500" b="1" dirty="0">
                <a:solidFill>
                  <a:schemeClr val="tx1"/>
                </a:solidFill>
              </a:rPr>
              <a:t>지금 할 일</a:t>
            </a:r>
            <a:endParaRPr lang="ko-KR" sz="1500" dirty="0"/>
          </a:p>
        </p:txBody>
      </p:sp>
      <p:sp>
        <p:nvSpPr>
          <p:cNvPr id="14" name="text-124"/>
          <p:cNvSpPr txBox="1"/>
          <p:nvPr/>
        </p:nvSpPr>
        <p:spPr>
          <a:xfrm>
            <a:off x="7132320" y="2679192"/>
            <a:ext cx="4510735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ko-KR" altLang="en-US" sz="1200" dirty="0">
                <a:solidFill>
                  <a:schemeClr val="accent3"/>
                </a:solidFill>
              </a:rPr>
              <a:t>가장 먼저 할 한 가지와 그 밖의 할 일을 적습니다.</a:t>
            </a:r>
            <a:endParaRPr lang="ko-KR" sz="1200" dirty="0"/>
          </a:p>
        </p:txBody>
      </p:sp>
      <p:sp>
        <p:nvSpPr>
          <p:cNvPr id="15" name="badge-125"/>
          <p:cNvSpPr/>
          <p:nvPr/>
        </p:nvSpPr>
        <p:spPr>
          <a:xfrm>
            <a:off x="6583680" y="3172968"/>
            <a:ext cx="402336" cy="402336"/>
          </a:xfrm>
          <a:prstGeom prst="roundRect">
            <a:avLst>
              <a:gd name="adj" fmla="val 28000"/>
            </a:avLst>
          </a:prstGeom>
          <a:solidFill>
            <a:schemeClr val="accent1"/>
          </a:solidFill>
          <a:ln/>
        </p:spPr>
      </p:sp>
      <p:sp>
        <p:nvSpPr>
          <p:cNvPr id="16" name="badge-num-126"/>
          <p:cNvSpPr txBox="1"/>
          <p:nvPr/>
        </p:nvSpPr>
        <p:spPr>
          <a:xfrm>
            <a:off x="6583680" y="3172968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ko-KR" altLang="en-US" sz="1500" b="1" dirty="0">
                <a:solidFill>
                  <a:schemeClr val="bg1"/>
                </a:solidFill>
              </a:rPr>
              <a:t>3</a:t>
            </a:r>
            <a:endParaRPr lang="ko-KR" sz="1500" dirty="0"/>
          </a:p>
        </p:txBody>
      </p:sp>
      <p:sp>
        <p:nvSpPr>
          <p:cNvPr id="17" name="text-127"/>
          <p:cNvSpPr txBox="1"/>
          <p:nvPr/>
        </p:nvSpPr>
        <p:spPr>
          <a:xfrm>
            <a:off x="7132320" y="3154680"/>
            <a:ext cx="451073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ko-KR" altLang="en-US" sz="1500" b="1" dirty="0">
                <a:solidFill>
                  <a:schemeClr val="tx1"/>
                </a:solidFill>
              </a:rPr>
              <a:t>더 채울 부분</a:t>
            </a:r>
            <a:endParaRPr lang="ko-KR" sz="1500" dirty="0"/>
          </a:p>
        </p:txBody>
      </p:sp>
      <p:sp>
        <p:nvSpPr>
          <p:cNvPr id="18" name="text-128"/>
          <p:cNvSpPr txBox="1"/>
          <p:nvPr/>
        </p:nvSpPr>
        <p:spPr>
          <a:xfrm>
            <a:off x="7132320" y="3465576"/>
            <a:ext cx="4510735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ko-KR" altLang="en-US" sz="1200" dirty="0">
                <a:solidFill>
                  <a:schemeClr val="accent3"/>
                </a:solidFill>
              </a:rPr>
              <a:t>경험은 있지만 설명 근거가 부족한 영역을 나눠 적습니다.</a:t>
            </a:r>
            <a:endParaRPr lang="ko-KR" sz="1200" dirty="0"/>
          </a:p>
        </p:txBody>
      </p:sp>
      <p:sp>
        <p:nvSpPr>
          <p:cNvPr id="19" name="badge-129"/>
          <p:cNvSpPr/>
          <p:nvPr/>
        </p:nvSpPr>
        <p:spPr>
          <a:xfrm>
            <a:off x="6583680" y="3959352"/>
            <a:ext cx="402336" cy="402336"/>
          </a:xfrm>
          <a:prstGeom prst="roundRect">
            <a:avLst>
              <a:gd name="adj" fmla="val 28000"/>
            </a:avLst>
          </a:prstGeom>
          <a:solidFill>
            <a:schemeClr val="accent1"/>
          </a:solidFill>
          <a:ln/>
        </p:spPr>
      </p:sp>
      <p:sp>
        <p:nvSpPr>
          <p:cNvPr id="20" name="badge-num-130"/>
          <p:cNvSpPr txBox="1"/>
          <p:nvPr/>
        </p:nvSpPr>
        <p:spPr>
          <a:xfrm>
            <a:off x="6583680" y="3959352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ko-KR" altLang="en-US" sz="1500" b="1" dirty="0">
                <a:solidFill>
                  <a:schemeClr val="bg1"/>
                </a:solidFill>
              </a:rPr>
              <a:t>4</a:t>
            </a:r>
            <a:endParaRPr lang="ko-KR" sz="1500" dirty="0"/>
          </a:p>
        </p:txBody>
      </p:sp>
      <p:sp>
        <p:nvSpPr>
          <p:cNvPr id="21" name="text-131"/>
          <p:cNvSpPr txBox="1"/>
          <p:nvPr/>
        </p:nvSpPr>
        <p:spPr>
          <a:xfrm>
            <a:off x="7132320" y="3941064"/>
            <a:ext cx="451073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ko-KR" altLang="en-US" sz="1500" b="1" dirty="0">
                <a:solidFill>
                  <a:schemeClr val="tx1"/>
                </a:solidFill>
              </a:rPr>
              <a:t>산업·직무 연결</a:t>
            </a:r>
            <a:endParaRPr lang="ko-KR" sz="1500" dirty="0"/>
          </a:p>
        </p:txBody>
      </p:sp>
      <p:sp>
        <p:nvSpPr>
          <p:cNvPr id="22" name="text-132"/>
          <p:cNvSpPr txBox="1"/>
          <p:nvPr/>
        </p:nvSpPr>
        <p:spPr>
          <a:xfrm>
            <a:off x="7132320" y="4251960"/>
            <a:ext cx="4510735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ko-KR" altLang="en-US" sz="1200" dirty="0">
                <a:solidFill>
                  <a:schemeClr val="accent3"/>
                </a:solidFill>
              </a:rPr>
              <a:t>고른 산업과 직무에서 자주 묻는 것과 다음에 만들 근거를 적습니다.</a:t>
            </a:r>
            <a:endParaRPr lang="ko-KR" sz="1200" dirty="0"/>
          </a:p>
        </p:txBody>
      </p:sp>
      <p:sp>
        <p:nvSpPr>
          <p:cNvPr id="23" name="text-133"/>
          <p:cNvSpPr txBox="1"/>
          <p:nvPr/>
        </p:nvSpPr>
        <p:spPr>
          <a:xfrm>
            <a:off x="6583680" y="4846320"/>
            <a:ext cx="505937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ko-KR" altLang="en-US" sz="1300" b="1" dirty="0">
                <a:solidFill>
                  <a:schemeClr val="accent1"/>
                </a:solidFill>
              </a:rPr>
              <a:t>근거를 적는 순서</a:t>
            </a:r>
            <a:endParaRPr lang="ko-KR" sz="1300" dirty="0"/>
          </a:p>
        </p:txBody>
      </p:sp>
      <p:sp>
        <p:nvSpPr>
          <p:cNvPr id="24" name="chain-134"/>
          <p:cNvSpPr/>
          <p:nvPr/>
        </p:nvSpPr>
        <p:spPr>
          <a:xfrm>
            <a:off x="6583680" y="5212080"/>
            <a:ext cx="1113968" cy="548640"/>
          </a:xfrm>
          <a:prstGeom prst="roundRect">
            <a:avLst>
              <a:gd name="adj" fmla="val 16667"/>
            </a:avLst>
          </a:prstGeom>
          <a:solidFill>
            <a:schemeClr val="accent2"/>
          </a:solidFill>
          <a:ln/>
        </p:spPr>
      </p:sp>
      <p:sp>
        <p:nvSpPr>
          <p:cNvPr id="25" name="text-135"/>
          <p:cNvSpPr txBox="1"/>
          <p:nvPr/>
        </p:nvSpPr>
        <p:spPr>
          <a:xfrm>
            <a:off x="6583680" y="5212080"/>
            <a:ext cx="111396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ko-KR" altLang="en-US" sz="1200" b="1" dirty="0">
                <a:solidFill>
                  <a:schemeClr val="tx1"/>
                </a:solidFill>
              </a:rPr>
              <a:t>해 본 일</a:t>
            </a:r>
            <a:endParaRPr lang="ko-KR" sz="1200" dirty="0"/>
          </a:p>
        </p:txBody>
      </p:sp>
      <p:pic>
        <p:nvPicPr>
          <p:cNvPr id="26" name="chain-arrow-136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15936" y="5394960"/>
            <a:ext cx="164592" cy="164592"/>
          </a:xfrm>
          <a:prstGeom prst="rect">
            <a:avLst/>
          </a:prstGeom>
        </p:spPr>
      </p:pic>
      <p:sp>
        <p:nvSpPr>
          <p:cNvPr id="27" name="chain-137"/>
          <p:cNvSpPr/>
          <p:nvPr/>
        </p:nvSpPr>
        <p:spPr>
          <a:xfrm>
            <a:off x="7898816" y="5212080"/>
            <a:ext cx="1113968" cy="548640"/>
          </a:xfrm>
          <a:prstGeom prst="roundRect">
            <a:avLst>
              <a:gd name="adj" fmla="val 16667"/>
            </a:avLst>
          </a:prstGeom>
          <a:solidFill>
            <a:schemeClr val="accent2"/>
          </a:solidFill>
          <a:ln/>
        </p:spPr>
      </p:sp>
      <p:sp>
        <p:nvSpPr>
          <p:cNvPr id="28" name="text-138"/>
          <p:cNvSpPr txBox="1"/>
          <p:nvPr/>
        </p:nvSpPr>
        <p:spPr>
          <a:xfrm>
            <a:off x="7898816" y="5212080"/>
            <a:ext cx="111396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ko-KR" altLang="en-US" sz="1200" b="1" dirty="0">
                <a:solidFill>
                  <a:schemeClr val="tx1"/>
                </a:solidFill>
              </a:rPr>
              <a:t>직접 정한 것</a:t>
            </a:r>
            <a:endParaRPr lang="ko-KR" sz="1200" dirty="0"/>
          </a:p>
        </p:txBody>
      </p:sp>
      <p:pic>
        <p:nvPicPr>
          <p:cNvPr id="29" name="chain-arrow-139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031072" y="5394960"/>
            <a:ext cx="164592" cy="164592"/>
          </a:xfrm>
          <a:prstGeom prst="rect">
            <a:avLst/>
          </a:prstGeom>
        </p:spPr>
      </p:pic>
      <p:sp>
        <p:nvSpPr>
          <p:cNvPr id="30" name="chain-140"/>
          <p:cNvSpPr/>
          <p:nvPr/>
        </p:nvSpPr>
        <p:spPr>
          <a:xfrm>
            <a:off x="9213952" y="5212080"/>
            <a:ext cx="1113968" cy="548640"/>
          </a:xfrm>
          <a:prstGeom prst="roundRect">
            <a:avLst>
              <a:gd name="adj" fmla="val 16667"/>
            </a:avLst>
          </a:prstGeom>
          <a:solidFill>
            <a:schemeClr val="accent2"/>
          </a:solidFill>
          <a:ln/>
        </p:spPr>
      </p:sp>
      <p:sp>
        <p:nvSpPr>
          <p:cNvPr id="31" name="text-141"/>
          <p:cNvSpPr txBox="1"/>
          <p:nvPr/>
        </p:nvSpPr>
        <p:spPr>
          <a:xfrm>
            <a:off x="9213952" y="5212080"/>
            <a:ext cx="111396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ko-KR" altLang="en-US" sz="1200" b="1" dirty="0">
                <a:solidFill>
                  <a:schemeClr val="tx1"/>
                </a:solidFill>
              </a:rPr>
              <a:t>남긴 결과물</a:t>
            </a:r>
            <a:endParaRPr lang="ko-KR" sz="1200" dirty="0"/>
          </a:p>
        </p:txBody>
      </p:sp>
      <p:pic>
        <p:nvPicPr>
          <p:cNvPr id="32" name="chain-arrow-142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346207" y="5394960"/>
            <a:ext cx="164592" cy="164592"/>
          </a:xfrm>
          <a:prstGeom prst="rect">
            <a:avLst/>
          </a:prstGeom>
        </p:spPr>
      </p:pic>
      <p:sp>
        <p:nvSpPr>
          <p:cNvPr id="33" name="chain-143"/>
          <p:cNvSpPr/>
          <p:nvPr/>
        </p:nvSpPr>
        <p:spPr>
          <a:xfrm>
            <a:off x="10529087" y="5212080"/>
            <a:ext cx="1113968" cy="548640"/>
          </a:xfrm>
          <a:prstGeom prst="roundRect">
            <a:avLst>
              <a:gd name="adj" fmla="val 16667"/>
            </a:avLst>
          </a:prstGeom>
          <a:solidFill>
            <a:schemeClr val="accent1"/>
          </a:solidFill>
          <a:ln/>
        </p:spPr>
      </p:sp>
      <p:sp>
        <p:nvSpPr>
          <p:cNvPr id="34" name="text-144"/>
          <p:cNvSpPr txBox="1"/>
          <p:nvPr/>
        </p:nvSpPr>
        <p:spPr>
          <a:xfrm>
            <a:off x="10529087" y="5212080"/>
            <a:ext cx="111396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ko-KR" altLang="en-US" sz="1200" b="1" dirty="0">
                <a:solidFill>
                  <a:schemeClr val="bg1"/>
                </a:solidFill>
              </a:rPr>
              <a:t>지원서·면접</a:t>
            </a:r>
            <a:endParaRPr lang="ko-KR" sz="1200" dirty="0"/>
          </a:p>
        </p:txBody>
      </p:sp>
      <p:sp>
        <p:nvSpPr>
          <p:cNvPr id="35" name="text-145"/>
          <p:cNvSpPr txBox="1"/>
          <p:nvPr/>
        </p:nvSpPr>
        <p:spPr>
          <a:xfrm>
            <a:off x="6583680" y="5897880"/>
            <a:ext cx="505937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ko-KR" altLang="en-US" sz="1200" dirty="0">
                <a:solidFill>
                  <a:schemeClr val="accent3"/>
                </a:solidFill>
              </a:rPr>
              <a:t>웹으로 보고 A4 PDF로 저장합니다.</a:t>
            </a:r>
            <a:endParaRPr lang="ko-KR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364224"/>
            <a:ext cx="54864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3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329184"/>
            <a:ext cx="1109441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ko-KR" altLang="en-US" sz="1300" b="1" dirty="0">
                <a:solidFill>
                  <a:schemeClr val="accent1"/>
                </a:solidFill>
              </a:rPr>
              <a:t>화면 3 · 내 CareerMatri</a:t>
            </a:r>
            <a:endParaRPr lang="ko-KR" sz="13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603504"/>
            <a:ext cx="11094415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ko-KR" altLang="en-US" sz="3400" b="1" dirty="0">
                <a:solidFill>
                  <a:schemeClr val="tx1"/>
                </a:solidFill>
              </a:rPr>
              <a:t>검사 뒤에도 이어서 쓰는 작업공간</a:t>
            </a:r>
            <a:endParaRPr lang="ko-KR" sz="3400" dirty="0"/>
          </a:p>
        </p:txBody>
      </p:sp>
      <p:sp>
        <p:nvSpPr>
          <p:cNvPr id="4" name="card-146"/>
          <p:cNvSpPr/>
          <p:nvPr/>
        </p:nvSpPr>
        <p:spPr>
          <a:xfrm>
            <a:off x="548640" y="1508760"/>
            <a:ext cx="7077456" cy="4227981"/>
          </a:xfrm>
          <a:prstGeom prst="roundRect">
            <a:avLst>
              <a:gd name="adj" fmla="val 2163"/>
            </a:avLst>
          </a:prstGeom>
          <a:solidFill>
            <a:schemeClr val="bg1"/>
          </a:solidFill>
          <a:ln w="9525">
            <a:solidFill>
              <a:srgbClr val="E1E7F2"/>
            </a:solidFill>
            <a:prstDash val="solid"/>
          </a:ln>
          <a:effectLst>
            <a:outerShdw sx="100000" sy="100000" kx="0" ky="0" algn="bl" rotWithShape="0" blurRad="127000" dist="25400" dir="5400000">
              <a:srgbClr val="0B1B33">
                <a:alpha val="10000"/>
              </a:srgbClr>
            </a:outerShdw>
          </a:effectLst>
        </p:spPr>
      </p:sp>
      <p:pic>
        <p:nvPicPr>
          <p:cNvPr id="5" name="screenshot-147" descr="/tmp/claude-0/-home-user/bc48fe73-cdf5-5b66-955c-b28a8a6207a5/scratchpad/shots/s_m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12648" y="1572768"/>
            <a:ext cx="6949440" cy="4099965"/>
          </a:xfrm>
          <a:prstGeom prst="rect">
            <a:avLst/>
          </a:prstGeom>
        </p:spPr>
      </p:pic>
      <p:sp>
        <p:nvSpPr>
          <p:cNvPr id="6" name="text-148"/>
          <p:cNvSpPr txBox="1"/>
          <p:nvPr/>
        </p:nvSpPr>
        <p:spPr>
          <a:xfrm>
            <a:off x="612648" y="5819037"/>
            <a:ext cx="6949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ko-KR" altLang="en-US" sz="1100" dirty="0">
                <a:solidFill>
                  <a:schemeClr val="accent3"/>
                </a:solidFill>
              </a:rPr>
              <a:t>학생 작업공간 홈 · 로컬 시험 계정</a:t>
            </a:r>
            <a:endParaRPr lang="ko-KR" sz="1100" dirty="0"/>
          </a:p>
        </p:txBody>
      </p:sp>
      <p:sp>
        <p:nvSpPr>
          <p:cNvPr id="7" name="badge-149"/>
          <p:cNvSpPr/>
          <p:nvPr/>
        </p:nvSpPr>
        <p:spPr>
          <a:xfrm>
            <a:off x="8046720" y="1600200"/>
            <a:ext cx="402336" cy="402336"/>
          </a:xfrm>
          <a:prstGeom prst="roundRect">
            <a:avLst>
              <a:gd name="adj" fmla="val 28000"/>
            </a:avLst>
          </a:prstGeom>
          <a:solidFill>
            <a:schemeClr val="accent1"/>
          </a:solidFill>
          <a:ln/>
        </p:spPr>
      </p:sp>
      <p:sp>
        <p:nvSpPr>
          <p:cNvPr id="8" name="badge-num-150"/>
          <p:cNvSpPr txBox="1"/>
          <p:nvPr/>
        </p:nvSpPr>
        <p:spPr>
          <a:xfrm>
            <a:off x="8046720" y="1600200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ko-KR" altLang="en-US" sz="1500" b="1" dirty="0">
                <a:solidFill>
                  <a:schemeClr val="bg1"/>
                </a:solidFill>
              </a:rPr>
              <a:t>1</a:t>
            </a:r>
            <a:endParaRPr lang="ko-KR" sz="1500" dirty="0"/>
          </a:p>
        </p:txBody>
      </p:sp>
      <p:sp>
        <p:nvSpPr>
          <p:cNvPr id="9" name="text-151"/>
          <p:cNvSpPr txBox="1"/>
          <p:nvPr/>
        </p:nvSpPr>
        <p:spPr>
          <a:xfrm>
            <a:off x="8595360" y="1581912"/>
            <a:ext cx="304769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ko-KR" altLang="en-US" sz="1500" b="1" dirty="0">
                <a:solidFill>
                  <a:schemeClr val="tx1"/>
                </a:solidFill>
              </a:rPr>
              <a:t>경험 추가</a:t>
            </a:r>
            <a:endParaRPr lang="ko-KR" sz="1500" dirty="0"/>
          </a:p>
        </p:txBody>
      </p:sp>
      <p:sp>
        <p:nvSpPr>
          <p:cNvPr id="10" name="text-152"/>
          <p:cNvSpPr txBox="1"/>
          <p:nvPr/>
        </p:nvSpPr>
        <p:spPr>
          <a:xfrm>
            <a:off x="8595360" y="1892808"/>
            <a:ext cx="3047695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ko-KR" altLang="en-US" sz="1200" dirty="0">
                <a:solidFill>
                  <a:schemeClr val="accent3"/>
                </a:solidFill>
              </a:rPr>
              <a:t>새 과제나 프로젝트를 적으면 어느 판단으로 가는지 먼저 보여 주고 더합니다.</a:t>
            </a:r>
            <a:endParaRPr lang="ko-KR" sz="1200" dirty="0"/>
          </a:p>
        </p:txBody>
      </p:sp>
      <p:sp>
        <p:nvSpPr>
          <p:cNvPr id="11" name="badge-153"/>
          <p:cNvSpPr/>
          <p:nvPr/>
        </p:nvSpPr>
        <p:spPr>
          <a:xfrm>
            <a:off x="8046720" y="2679192"/>
            <a:ext cx="402336" cy="402336"/>
          </a:xfrm>
          <a:prstGeom prst="roundRect">
            <a:avLst>
              <a:gd name="adj" fmla="val 28000"/>
            </a:avLst>
          </a:prstGeom>
          <a:solidFill>
            <a:schemeClr val="accent1"/>
          </a:solidFill>
          <a:ln/>
        </p:spPr>
      </p:sp>
      <p:sp>
        <p:nvSpPr>
          <p:cNvPr id="12" name="badge-num-154"/>
          <p:cNvSpPr txBox="1"/>
          <p:nvPr/>
        </p:nvSpPr>
        <p:spPr>
          <a:xfrm>
            <a:off x="8046720" y="2679192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ko-KR" altLang="en-US" sz="1500" b="1" dirty="0">
                <a:solidFill>
                  <a:schemeClr val="bg1"/>
                </a:solidFill>
              </a:rPr>
              <a:t>2</a:t>
            </a:r>
            <a:endParaRPr lang="ko-KR" sz="1500" dirty="0"/>
          </a:p>
        </p:txBody>
      </p:sp>
      <p:sp>
        <p:nvSpPr>
          <p:cNvPr id="13" name="text-155"/>
          <p:cNvSpPr txBox="1"/>
          <p:nvPr/>
        </p:nvSpPr>
        <p:spPr>
          <a:xfrm>
            <a:off x="8595360" y="2660904"/>
            <a:ext cx="304769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ko-KR" altLang="en-US" sz="1500" b="1" dirty="0">
                <a:solidFill>
                  <a:schemeClr val="tx1"/>
                </a:solidFill>
              </a:rPr>
              <a:t>현재 상태 갱신</a:t>
            </a:r>
            <a:endParaRPr lang="ko-KR" sz="1500" dirty="0"/>
          </a:p>
        </p:txBody>
      </p:sp>
      <p:sp>
        <p:nvSpPr>
          <p:cNvPr id="14" name="text-156"/>
          <p:cNvSpPr txBox="1"/>
          <p:nvPr/>
        </p:nvSpPr>
        <p:spPr>
          <a:xfrm>
            <a:off x="8595360" y="2971800"/>
            <a:ext cx="3047695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ko-KR" altLang="en-US" sz="1200" dirty="0">
                <a:solidFill>
                  <a:schemeClr val="accent3"/>
                </a:solidFill>
              </a:rPr>
              <a:t>적은 경험이 현재 상태에 반영됩니다. 검사 당시 결과는 그대로 남습니다.</a:t>
            </a:r>
            <a:endParaRPr lang="ko-KR" sz="1200" dirty="0"/>
          </a:p>
        </p:txBody>
      </p:sp>
      <p:sp>
        <p:nvSpPr>
          <p:cNvPr id="15" name="badge-157"/>
          <p:cNvSpPr/>
          <p:nvPr/>
        </p:nvSpPr>
        <p:spPr>
          <a:xfrm>
            <a:off x="8046720" y="3758184"/>
            <a:ext cx="402336" cy="402336"/>
          </a:xfrm>
          <a:prstGeom prst="roundRect">
            <a:avLst>
              <a:gd name="adj" fmla="val 28000"/>
            </a:avLst>
          </a:prstGeom>
          <a:solidFill>
            <a:schemeClr val="accent1"/>
          </a:solidFill>
          <a:ln/>
        </p:spPr>
      </p:sp>
      <p:sp>
        <p:nvSpPr>
          <p:cNvPr id="16" name="badge-num-158"/>
          <p:cNvSpPr txBox="1"/>
          <p:nvPr/>
        </p:nvSpPr>
        <p:spPr>
          <a:xfrm>
            <a:off x="8046720" y="3758184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ko-KR" altLang="en-US" sz="1500" b="1" dirty="0">
                <a:solidFill>
                  <a:schemeClr val="bg1"/>
                </a:solidFill>
              </a:rPr>
              <a:t>3</a:t>
            </a:r>
            <a:endParaRPr lang="ko-KR" sz="1500" dirty="0"/>
          </a:p>
        </p:txBody>
      </p:sp>
      <p:sp>
        <p:nvSpPr>
          <p:cNvPr id="17" name="text-159"/>
          <p:cNvSpPr txBox="1"/>
          <p:nvPr/>
        </p:nvSpPr>
        <p:spPr>
          <a:xfrm>
            <a:off x="8595360" y="3739896"/>
            <a:ext cx="304769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ko-KR" altLang="en-US" sz="1500" b="1" dirty="0">
                <a:solidFill>
                  <a:schemeClr val="tx1"/>
                </a:solidFill>
              </a:rPr>
              <a:t>다음 할 일</a:t>
            </a:r>
            <a:endParaRPr lang="ko-KR" sz="1500" dirty="0"/>
          </a:p>
        </p:txBody>
      </p:sp>
      <p:sp>
        <p:nvSpPr>
          <p:cNvPr id="18" name="text-160"/>
          <p:cNvSpPr txBox="1"/>
          <p:nvPr/>
        </p:nvSpPr>
        <p:spPr>
          <a:xfrm>
            <a:off x="8595360" y="4050792"/>
            <a:ext cx="3047695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ko-KR" altLang="en-US" sz="1200" dirty="0">
                <a:solidFill>
                  <a:schemeClr val="accent3"/>
                </a:solidFill>
              </a:rPr>
              <a:t>지금 할 일 하나와 그 밖의 할 일을 늘 첫 화면에 둡니다.</a:t>
            </a:r>
            <a:endParaRPr lang="ko-KR" sz="1200" dirty="0"/>
          </a:p>
        </p:txBody>
      </p:sp>
      <p:sp>
        <p:nvSpPr>
          <p:cNvPr id="19" name="badge-161"/>
          <p:cNvSpPr/>
          <p:nvPr/>
        </p:nvSpPr>
        <p:spPr>
          <a:xfrm>
            <a:off x="8046720" y="4837176"/>
            <a:ext cx="402336" cy="402336"/>
          </a:xfrm>
          <a:prstGeom prst="roundRect">
            <a:avLst>
              <a:gd name="adj" fmla="val 28000"/>
            </a:avLst>
          </a:prstGeom>
          <a:solidFill>
            <a:schemeClr val="accent1"/>
          </a:solidFill>
          <a:ln/>
        </p:spPr>
      </p:sp>
      <p:sp>
        <p:nvSpPr>
          <p:cNvPr id="20" name="badge-num-162"/>
          <p:cNvSpPr txBox="1"/>
          <p:nvPr/>
        </p:nvSpPr>
        <p:spPr>
          <a:xfrm>
            <a:off x="8046720" y="4837176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ko-KR" altLang="en-US" sz="1500" b="1" dirty="0">
                <a:solidFill>
                  <a:schemeClr val="bg1"/>
                </a:solidFill>
              </a:rPr>
              <a:t>4</a:t>
            </a:r>
            <a:endParaRPr lang="ko-KR" sz="1500" dirty="0"/>
          </a:p>
        </p:txBody>
      </p:sp>
      <p:sp>
        <p:nvSpPr>
          <p:cNvPr id="21" name="text-163"/>
          <p:cNvSpPr txBox="1"/>
          <p:nvPr/>
        </p:nvSpPr>
        <p:spPr>
          <a:xfrm>
            <a:off x="8595360" y="4818888"/>
            <a:ext cx="304769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ko-KR" altLang="en-US" sz="1500" b="1" dirty="0">
                <a:solidFill>
                  <a:schemeClr val="tx1"/>
                </a:solidFill>
              </a:rPr>
              <a:t>산업·직무, 지원 기록</a:t>
            </a:r>
            <a:endParaRPr lang="ko-KR" sz="1500" dirty="0"/>
          </a:p>
        </p:txBody>
      </p:sp>
      <p:sp>
        <p:nvSpPr>
          <p:cNvPr id="22" name="text-164"/>
          <p:cNvSpPr txBox="1"/>
          <p:nvPr/>
        </p:nvSpPr>
        <p:spPr>
          <a:xfrm>
            <a:off x="8595360" y="5129784"/>
            <a:ext cx="3047695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ko-KR" altLang="en-US" sz="1200" dirty="0">
                <a:solidFill>
                  <a:schemeClr val="accent3"/>
                </a:solidFill>
              </a:rPr>
              <a:t>관심 산업·직무를 둘러보고 지원한 곳을 기록합니다.</a:t>
            </a:r>
            <a:endParaRPr lang="ko-KR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364224"/>
            <a:ext cx="54864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3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329184"/>
            <a:ext cx="1109441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ko-KR" altLang="en-US" sz="1300" b="1" dirty="0">
                <a:solidFill>
                  <a:schemeClr val="accent1"/>
                </a:solidFill>
              </a:rPr>
              <a:t>담당자 화면 1 · 진행 현황</a:t>
            </a:r>
            <a:endParaRPr lang="ko-KR" sz="13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603504"/>
            <a:ext cx="11094415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ko-KR" altLang="en-US" sz="3400" b="1" dirty="0">
                <a:solidFill>
                  <a:schemeClr val="tx1"/>
                </a:solidFill>
              </a:rPr>
              <a:t>교수·사업단은 진행 상황을 숫자로 봅니다</a:t>
            </a:r>
            <a:endParaRPr lang="ko-KR" sz="3400" dirty="0"/>
          </a:p>
        </p:txBody>
      </p:sp>
      <p:sp>
        <p:nvSpPr>
          <p:cNvPr id="4" name="card-165"/>
          <p:cNvSpPr/>
          <p:nvPr/>
        </p:nvSpPr>
        <p:spPr>
          <a:xfrm>
            <a:off x="548640" y="1508760"/>
            <a:ext cx="7077456" cy="3890571"/>
          </a:xfrm>
          <a:prstGeom prst="roundRect">
            <a:avLst>
              <a:gd name="adj" fmla="val 2350"/>
            </a:avLst>
          </a:prstGeom>
          <a:solidFill>
            <a:schemeClr val="bg1"/>
          </a:solidFill>
          <a:ln w="9525">
            <a:solidFill>
              <a:srgbClr val="E1E7F2"/>
            </a:solidFill>
            <a:prstDash val="solid"/>
          </a:ln>
          <a:effectLst>
            <a:outerShdw sx="100000" sy="100000" kx="0" ky="0" algn="bl" rotWithShape="0" blurRad="127000" dist="25400" dir="5400000">
              <a:srgbClr val="0B1B33">
                <a:alpha val="10000"/>
              </a:srgbClr>
            </a:outerShdw>
          </a:effectLst>
        </p:spPr>
      </p:sp>
      <p:pic>
        <p:nvPicPr>
          <p:cNvPr id="5" name="screenshot-166" descr="/tmp/claude-0/-home-user/bc48fe73-cdf5-5b66-955c-b28a8a6207a5/scratchpad/shots/s_org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12648" y="1572768"/>
            <a:ext cx="6949440" cy="3762555"/>
          </a:xfrm>
          <a:prstGeom prst="rect">
            <a:avLst/>
          </a:prstGeom>
        </p:spPr>
      </p:pic>
      <p:sp>
        <p:nvSpPr>
          <p:cNvPr id="6" name="text-167"/>
          <p:cNvSpPr txBox="1"/>
          <p:nvPr/>
        </p:nvSpPr>
        <p:spPr>
          <a:xfrm>
            <a:off x="612648" y="5481627"/>
            <a:ext cx="6949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ko-KR" altLang="en-US" sz="1100" dirty="0">
                <a:solidFill>
                  <a:schemeClr val="accent3"/>
                </a:solidFill>
              </a:rPr>
              <a:t>전공 진단 집계 화면 · 로컬 시험 데이터</a:t>
            </a:r>
            <a:endParaRPr lang="ko-KR" sz="1100" dirty="0"/>
          </a:p>
        </p:txBody>
      </p:sp>
      <p:sp>
        <p:nvSpPr>
          <p:cNvPr id="7" name="badge-168"/>
          <p:cNvSpPr/>
          <p:nvPr/>
        </p:nvSpPr>
        <p:spPr>
          <a:xfrm>
            <a:off x="8046720" y="1600200"/>
            <a:ext cx="438912" cy="438912"/>
          </a:xfrm>
          <a:prstGeom prst="roundRect">
            <a:avLst>
              <a:gd name="adj" fmla="val 28000"/>
            </a:avLst>
          </a:prstGeom>
          <a:solidFill>
            <a:schemeClr val="accent1"/>
          </a:solidFill>
          <a:ln/>
        </p:spPr>
      </p:sp>
      <p:pic>
        <p:nvPicPr>
          <p:cNvPr id="8" name="icon-169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143281" y="1696761"/>
            <a:ext cx="245791" cy="245791"/>
          </a:xfrm>
          <a:prstGeom prst="rect">
            <a:avLst/>
          </a:prstGeom>
        </p:spPr>
      </p:pic>
      <p:sp>
        <p:nvSpPr>
          <p:cNvPr id="9" name="text-170"/>
          <p:cNvSpPr txBox="1"/>
          <p:nvPr/>
        </p:nvSpPr>
        <p:spPr>
          <a:xfrm>
            <a:off x="8641080" y="1581912"/>
            <a:ext cx="3001975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ko-KR" altLang="en-US" sz="1500" b="1" dirty="0">
                <a:solidFill>
                  <a:schemeClr val="tx1"/>
                </a:solidFill>
              </a:rPr>
              <a:t>대상자 · 시작 · 완료 · 완료율</a:t>
            </a:r>
            <a:endParaRPr lang="ko-KR" sz="1500" dirty="0"/>
          </a:p>
        </p:txBody>
      </p:sp>
      <p:sp>
        <p:nvSpPr>
          <p:cNvPr id="10" name="text-171"/>
          <p:cNvSpPr txBox="1"/>
          <p:nvPr/>
        </p:nvSpPr>
        <p:spPr>
          <a:xfrm>
            <a:off x="8641080" y="1929384"/>
            <a:ext cx="300197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ko-KR" altLang="en-US" sz="1300" dirty="0">
                <a:solidFill>
                  <a:schemeClr val="accent3"/>
                </a:solidFill>
              </a:rPr>
              <a:t>기간, 단과대학, 학과로 좁혀 볼 수 있습니다.</a:t>
            </a:r>
            <a:endParaRPr lang="ko-KR" sz="1300" dirty="0"/>
          </a:p>
        </p:txBody>
      </p:sp>
      <p:sp>
        <p:nvSpPr>
          <p:cNvPr id="11" name="badge-172"/>
          <p:cNvSpPr/>
          <p:nvPr/>
        </p:nvSpPr>
        <p:spPr>
          <a:xfrm>
            <a:off x="8046720" y="2971800"/>
            <a:ext cx="438912" cy="438912"/>
          </a:xfrm>
          <a:prstGeom prst="roundRect">
            <a:avLst>
              <a:gd name="adj" fmla="val 28000"/>
            </a:avLst>
          </a:prstGeom>
          <a:solidFill>
            <a:schemeClr val="accent1"/>
          </a:solidFill>
          <a:ln/>
        </p:spPr>
      </p:sp>
      <p:pic>
        <p:nvPicPr>
          <p:cNvPr id="12" name="icon-173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43281" y="3068361"/>
            <a:ext cx="245791" cy="245791"/>
          </a:xfrm>
          <a:prstGeom prst="rect">
            <a:avLst/>
          </a:prstGeom>
        </p:spPr>
      </p:pic>
      <p:sp>
        <p:nvSpPr>
          <p:cNvPr id="13" name="text-174"/>
          <p:cNvSpPr txBox="1"/>
          <p:nvPr/>
        </p:nvSpPr>
        <p:spPr>
          <a:xfrm>
            <a:off x="8641080" y="2953512"/>
            <a:ext cx="3001975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ko-KR" altLang="en-US" sz="1500" b="1" dirty="0">
                <a:solidFill>
                  <a:schemeClr val="tx1"/>
                </a:solidFill>
              </a:rPr>
              <a:t>응시 상태별 학생 수</a:t>
            </a:r>
            <a:endParaRPr lang="ko-KR" sz="1500" dirty="0"/>
          </a:p>
        </p:txBody>
      </p:sp>
      <p:sp>
        <p:nvSpPr>
          <p:cNvPr id="14" name="text-175"/>
          <p:cNvSpPr txBox="1"/>
          <p:nvPr/>
        </p:nvSpPr>
        <p:spPr>
          <a:xfrm>
            <a:off x="8641080" y="3300984"/>
            <a:ext cx="300197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ko-KR" altLang="en-US" sz="1300" dirty="0">
                <a:solidFill>
                  <a:schemeClr val="accent3"/>
                </a:solidFill>
              </a:rPr>
              <a:t>아직 시작하지 않은 학생 명단을 받아 학교 경로로 안내합니다.</a:t>
            </a:r>
            <a:endParaRPr lang="ko-KR" sz="1300" dirty="0"/>
          </a:p>
        </p:txBody>
      </p:sp>
      <p:sp>
        <p:nvSpPr>
          <p:cNvPr id="15" name="badge-176"/>
          <p:cNvSpPr/>
          <p:nvPr/>
        </p:nvSpPr>
        <p:spPr>
          <a:xfrm>
            <a:off x="8046720" y="4343400"/>
            <a:ext cx="438912" cy="438912"/>
          </a:xfrm>
          <a:prstGeom prst="roundRect">
            <a:avLst>
              <a:gd name="adj" fmla="val 28000"/>
            </a:avLst>
          </a:prstGeom>
          <a:solidFill>
            <a:schemeClr val="accent1"/>
          </a:solidFill>
          <a:ln/>
        </p:spPr>
      </p:sp>
      <p:pic>
        <p:nvPicPr>
          <p:cNvPr id="16" name="icon-177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143281" y="4439961"/>
            <a:ext cx="245791" cy="245791"/>
          </a:xfrm>
          <a:prstGeom prst="rect">
            <a:avLst/>
          </a:prstGeom>
        </p:spPr>
      </p:pic>
      <p:sp>
        <p:nvSpPr>
          <p:cNvPr id="17" name="text-178"/>
          <p:cNvSpPr txBox="1"/>
          <p:nvPr/>
        </p:nvSpPr>
        <p:spPr>
          <a:xfrm>
            <a:off x="8641080" y="4325112"/>
            <a:ext cx="3001975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ko-KR" altLang="en-US" sz="1500" b="1" dirty="0">
                <a:solidFill>
                  <a:schemeClr val="tx1"/>
                </a:solidFill>
              </a:rPr>
              <a:t>내려받기</a:t>
            </a:r>
            <a:endParaRPr lang="ko-KR" sz="1500" dirty="0"/>
          </a:p>
        </p:txBody>
      </p:sp>
      <p:sp>
        <p:nvSpPr>
          <p:cNvPr id="18" name="text-179"/>
          <p:cNvSpPr txBox="1"/>
          <p:nvPr/>
        </p:nvSpPr>
        <p:spPr>
          <a:xfrm>
            <a:off x="8641080" y="4672584"/>
            <a:ext cx="300197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ko-KR" altLang="en-US" sz="1300" dirty="0">
                <a:solidFill>
                  <a:schemeClr val="accent3"/>
                </a:solidFill>
              </a:rPr>
              <a:t>학생 응시 상태 CSV, 학과별 집계 CSV, 대학 운영 요약 PDF</a:t>
            </a:r>
            <a:endParaRPr lang="ko-KR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364224"/>
            <a:ext cx="54864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3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329184"/>
            <a:ext cx="1109441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ko-KR" altLang="en-US" sz="1300" b="1" dirty="0">
                <a:solidFill>
                  <a:schemeClr val="accent1"/>
                </a:solidFill>
              </a:rPr>
              <a:t>담당자 화면 2 · 학생 관리</a:t>
            </a:r>
            <a:endParaRPr lang="ko-KR" sz="13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603504"/>
            <a:ext cx="11094415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ko-KR" altLang="en-US" sz="3400" b="1" dirty="0">
                <a:solidFill>
                  <a:schemeClr val="tx1"/>
                </a:solidFill>
              </a:rPr>
              <a:t>학생 계정은 학교가 발급하고 관리합니다</a:t>
            </a:r>
            <a:endParaRPr lang="ko-KR" sz="3400" dirty="0"/>
          </a:p>
        </p:txBody>
      </p:sp>
      <p:sp>
        <p:nvSpPr>
          <p:cNvPr id="4" name="card-180"/>
          <p:cNvSpPr/>
          <p:nvPr/>
        </p:nvSpPr>
        <p:spPr>
          <a:xfrm>
            <a:off x="548640" y="1508760"/>
            <a:ext cx="7077456" cy="4189641"/>
          </a:xfrm>
          <a:prstGeom prst="roundRect">
            <a:avLst>
              <a:gd name="adj" fmla="val 2183"/>
            </a:avLst>
          </a:prstGeom>
          <a:solidFill>
            <a:schemeClr val="bg1"/>
          </a:solidFill>
          <a:ln w="9525">
            <a:solidFill>
              <a:srgbClr val="E1E7F2"/>
            </a:solidFill>
            <a:prstDash val="solid"/>
          </a:ln>
          <a:effectLst>
            <a:outerShdw sx="100000" sy="100000" kx="0" ky="0" algn="bl" rotWithShape="0" blurRad="127000" dist="25400" dir="5400000">
              <a:srgbClr val="0B1B33">
                <a:alpha val="10000"/>
              </a:srgbClr>
            </a:outerShdw>
          </a:effectLst>
        </p:spPr>
      </p:sp>
      <p:pic>
        <p:nvPicPr>
          <p:cNvPr id="5" name="screenshot-181" descr="/tmp/claude-0/-home-user/bc48fe73-cdf5-5b66-955c-b28a8a6207a5/scratchpad/shots/s_student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12648" y="1572768"/>
            <a:ext cx="6949440" cy="4061625"/>
          </a:xfrm>
          <a:prstGeom prst="rect">
            <a:avLst/>
          </a:prstGeom>
        </p:spPr>
      </p:pic>
      <p:sp>
        <p:nvSpPr>
          <p:cNvPr id="6" name="text-182"/>
          <p:cNvSpPr txBox="1"/>
          <p:nvPr/>
        </p:nvSpPr>
        <p:spPr>
          <a:xfrm>
            <a:off x="612648" y="5780697"/>
            <a:ext cx="6949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ko-KR" altLang="en-US" sz="1100" dirty="0">
                <a:solidFill>
                  <a:schemeClr val="accent3"/>
                </a:solidFill>
              </a:rPr>
              <a:t>학생 관리 화면 · 로컬 시험 계정</a:t>
            </a:r>
            <a:endParaRPr lang="ko-KR" sz="1100" dirty="0"/>
          </a:p>
        </p:txBody>
      </p:sp>
      <p:sp>
        <p:nvSpPr>
          <p:cNvPr id="7" name="badge-183"/>
          <p:cNvSpPr/>
          <p:nvPr/>
        </p:nvSpPr>
        <p:spPr>
          <a:xfrm>
            <a:off x="8046720" y="1600200"/>
            <a:ext cx="402336" cy="402336"/>
          </a:xfrm>
          <a:prstGeom prst="roundRect">
            <a:avLst>
              <a:gd name="adj" fmla="val 28000"/>
            </a:avLst>
          </a:prstGeom>
          <a:solidFill>
            <a:schemeClr val="accent1"/>
          </a:solidFill>
          <a:ln/>
        </p:spPr>
      </p:sp>
      <p:sp>
        <p:nvSpPr>
          <p:cNvPr id="8" name="badge-num-184"/>
          <p:cNvSpPr txBox="1"/>
          <p:nvPr/>
        </p:nvSpPr>
        <p:spPr>
          <a:xfrm>
            <a:off x="8046720" y="1600200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ko-KR" altLang="en-US" sz="1500" b="1" dirty="0">
                <a:solidFill>
                  <a:schemeClr val="bg1"/>
                </a:solidFill>
              </a:rPr>
              <a:t>1</a:t>
            </a:r>
            <a:endParaRPr lang="ko-KR" sz="1500" dirty="0"/>
          </a:p>
        </p:txBody>
      </p:sp>
      <p:sp>
        <p:nvSpPr>
          <p:cNvPr id="9" name="text-185"/>
          <p:cNvSpPr txBox="1"/>
          <p:nvPr/>
        </p:nvSpPr>
        <p:spPr>
          <a:xfrm>
            <a:off x="8595360" y="1581912"/>
            <a:ext cx="304769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ko-KR" altLang="en-US" sz="1500" b="1" dirty="0">
                <a:solidFill>
                  <a:schemeClr val="tx1"/>
                </a:solidFill>
              </a:rPr>
              <a:t>계정 발급</a:t>
            </a:r>
            <a:endParaRPr lang="ko-KR" sz="1500" dirty="0"/>
          </a:p>
        </p:txBody>
      </p:sp>
      <p:sp>
        <p:nvSpPr>
          <p:cNvPr id="10" name="text-186"/>
          <p:cNvSpPr txBox="1"/>
          <p:nvPr/>
        </p:nvSpPr>
        <p:spPr>
          <a:xfrm>
            <a:off x="8595360" y="1892808"/>
            <a:ext cx="3047695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ko-KR" altLang="en-US" sz="1200" dirty="0">
                <a:solidFill>
                  <a:schemeClr val="accent3"/>
                </a:solidFill>
              </a:rPr>
              <a:t>한 명씩 또는 CSV로 한꺼번에. CSV는 미리 보기 뒤 정상 줄만 적용합니다.</a:t>
            </a:r>
            <a:endParaRPr lang="ko-KR" sz="1200" dirty="0"/>
          </a:p>
        </p:txBody>
      </p:sp>
      <p:sp>
        <p:nvSpPr>
          <p:cNvPr id="11" name="badge-187"/>
          <p:cNvSpPr/>
          <p:nvPr/>
        </p:nvSpPr>
        <p:spPr>
          <a:xfrm>
            <a:off x="8046720" y="2587752"/>
            <a:ext cx="402336" cy="402336"/>
          </a:xfrm>
          <a:prstGeom prst="roundRect">
            <a:avLst>
              <a:gd name="adj" fmla="val 28000"/>
            </a:avLst>
          </a:prstGeom>
          <a:solidFill>
            <a:schemeClr val="accent1"/>
          </a:solidFill>
          <a:ln/>
        </p:spPr>
      </p:sp>
      <p:sp>
        <p:nvSpPr>
          <p:cNvPr id="12" name="badge-num-188"/>
          <p:cNvSpPr txBox="1"/>
          <p:nvPr/>
        </p:nvSpPr>
        <p:spPr>
          <a:xfrm>
            <a:off x="8046720" y="2587752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ko-KR" altLang="en-US" sz="1500" b="1" dirty="0">
                <a:solidFill>
                  <a:schemeClr val="bg1"/>
                </a:solidFill>
              </a:rPr>
              <a:t>2</a:t>
            </a:r>
            <a:endParaRPr lang="ko-KR" sz="1500" dirty="0"/>
          </a:p>
        </p:txBody>
      </p:sp>
      <p:sp>
        <p:nvSpPr>
          <p:cNvPr id="13" name="text-189"/>
          <p:cNvSpPr txBox="1"/>
          <p:nvPr/>
        </p:nvSpPr>
        <p:spPr>
          <a:xfrm>
            <a:off x="8595360" y="2569464"/>
            <a:ext cx="304769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ko-KR" altLang="en-US" sz="1500" b="1" dirty="0">
                <a:solidFill>
                  <a:schemeClr val="tx1"/>
                </a:solidFill>
              </a:rPr>
              <a:t>비밀번호 재발급</a:t>
            </a:r>
            <a:endParaRPr lang="ko-KR" sz="1500" dirty="0"/>
          </a:p>
        </p:txBody>
      </p:sp>
      <p:sp>
        <p:nvSpPr>
          <p:cNvPr id="14" name="text-190"/>
          <p:cNvSpPr txBox="1"/>
          <p:nvPr/>
        </p:nvSpPr>
        <p:spPr>
          <a:xfrm>
            <a:off x="8595360" y="2880360"/>
            <a:ext cx="3047695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ko-KR" altLang="en-US" sz="1200" dirty="0">
                <a:solidFill>
                  <a:schemeClr val="accent3"/>
                </a:solidFill>
              </a:rPr>
              <a:t>새 비밀번호는 그 화면에서 한 번만 보입니다.</a:t>
            </a:r>
            <a:endParaRPr lang="ko-KR" sz="1200" dirty="0"/>
          </a:p>
        </p:txBody>
      </p:sp>
      <p:sp>
        <p:nvSpPr>
          <p:cNvPr id="15" name="badge-191"/>
          <p:cNvSpPr/>
          <p:nvPr/>
        </p:nvSpPr>
        <p:spPr>
          <a:xfrm>
            <a:off x="8046720" y="3575304"/>
            <a:ext cx="402336" cy="402336"/>
          </a:xfrm>
          <a:prstGeom prst="roundRect">
            <a:avLst>
              <a:gd name="adj" fmla="val 28000"/>
            </a:avLst>
          </a:prstGeom>
          <a:solidFill>
            <a:schemeClr val="accent1"/>
          </a:solidFill>
          <a:ln/>
        </p:spPr>
      </p:sp>
      <p:sp>
        <p:nvSpPr>
          <p:cNvPr id="16" name="badge-num-192"/>
          <p:cNvSpPr txBox="1"/>
          <p:nvPr/>
        </p:nvSpPr>
        <p:spPr>
          <a:xfrm>
            <a:off x="8046720" y="3575304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ko-KR" altLang="en-US" sz="1500" b="1" dirty="0">
                <a:solidFill>
                  <a:schemeClr val="bg1"/>
                </a:solidFill>
              </a:rPr>
              <a:t>3</a:t>
            </a:r>
            <a:endParaRPr lang="ko-KR" sz="1500" dirty="0"/>
          </a:p>
        </p:txBody>
      </p:sp>
      <p:sp>
        <p:nvSpPr>
          <p:cNvPr id="17" name="text-193"/>
          <p:cNvSpPr txBox="1"/>
          <p:nvPr/>
        </p:nvSpPr>
        <p:spPr>
          <a:xfrm>
            <a:off x="8595360" y="3557016"/>
            <a:ext cx="304769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ko-KR" altLang="en-US" sz="1500" b="1" dirty="0">
                <a:solidFill>
                  <a:schemeClr val="tx1"/>
                </a:solidFill>
              </a:rPr>
              <a:t>계정 멈춤 · 다시 열기</a:t>
            </a:r>
            <a:endParaRPr lang="ko-KR" sz="1500" dirty="0"/>
          </a:p>
        </p:txBody>
      </p:sp>
      <p:sp>
        <p:nvSpPr>
          <p:cNvPr id="18" name="text-194"/>
          <p:cNvSpPr txBox="1"/>
          <p:nvPr/>
        </p:nvSpPr>
        <p:spPr>
          <a:xfrm>
            <a:off x="8595360" y="3867912"/>
            <a:ext cx="3047695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ko-KR" altLang="en-US" sz="1200" dirty="0">
                <a:solidFill>
                  <a:schemeClr val="accent3"/>
                </a:solidFill>
              </a:rPr>
              <a:t>졸업, 휴학 등으로 쓰지 않는 계정을 멈춥니다.</a:t>
            </a:r>
            <a:endParaRPr lang="ko-KR" sz="1200" dirty="0"/>
          </a:p>
        </p:txBody>
      </p:sp>
      <p:sp>
        <p:nvSpPr>
          <p:cNvPr id="19" name="badge-195"/>
          <p:cNvSpPr/>
          <p:nvPr/>
        </p:nvSpPr>
        <p:spPr>
          <a:xfrm>
            <a:off x="8046720" y="4562856"/>
            <a:ext cx="402336" cy="402336"/>
          </a:xfrm>
          <a:prstGeom prst="roundRect">
            <a:avLst>
              <a:gd name="adj" fmla="val 28000"/>
            </a:avLst>
          </a:prstGeom>
          <a:solidFill>
            <a:schemeClr val="accent1"/>
          </a:solidFill>
          <a:ln/>
        </p:spPr>
      </p:sp>
      <p:sp>
        <p:nvSpPr>
          <p:cNvPr id="20" name="badge-num-196"/>
          <p:cNvSpPr txBox="1"/>
          <p:nvPr/>
        </p:nvSpPr>
        <p:spPr>
          <a:xfrm>
            <a:off x="8046720" y="4562856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ko-KR" altLang="en-US" sz="1500" b="1" dirty="0">
                <a:solidFill>
                  <a:schemeClr val="bg1"/>
                </a:solidFill>
              </a:rPr>
              <a:t>4</a:t>
            </a:r>
            <a:endParaRPr lang="ko-KR" sz="1500" dirty="0"/>
          </a:p>
        </p:txBody>
      </p:sp>
      <p:sp>
        <p:nvSpPr>
          <p:cNvPr id="21" name="text-197"/>
          <p:cNvSpPr txBox="1"/>
          <p:nvPr/>
        </p:nvSpPr>
        <p:spPr>
          <a:xfrm>
            <a:off x="8595360" y="4544568"/>
            <a:ext cx="304769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ko-KR" altLang="en-US" sz="1500" b="1" dirty="0">
                <a:solidFill>
                  <a:schemeClr val="tx1"/>
                </a:solidFill>
              </a:rPr>
              <a:t>재응시 열어 주기</a:t>
            </a:r>
            <a:endParaRPr lang="ko-KR" sz="1500" dirty="0"/>
          </a:p>
        </p:txBody>
      </p:sp>
      <p:sp>
        <p:nvSpPr>
          <p:cNvPr id="22" name="text-198"/>
          <p:cNvSpPr txBox="1"/>
          <p:nvPr/>
        </p:nvSpPr>
        <p:spPr>
          <a:xfrm>
            <a:off x="8595360" y="4855464"/>
            <a:ext cx="3047695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ko-KR" altLang="en-US" sz="1200" dirty="0">
                <a:solidFill>
                  <a:schemeClr val="accent3"/>
                </a:solidFill>
              </a:rPr>
              <a:t>필요한 학생에게 한 번 더 응시할 수 있게 엽니다.</a:t>
            </a:r>
            <a:endParaRPr lang="ko-KR" sz="1200" dirty="0"/>
          </a:p>
        </p:txBody>
      </p:sp>
      <p:sp>
        <p:nvSpPr>
          <p:cNvPr id="23" name="card-199"/>
          <p:cNvSpPr/>
          <p:nvPr/>
        </p:nvSpPr>
        <p:spPr>
          <a:xfrm>
            <a:off x="8046720" y="5596128"/>
            <a:ext cx="3596335" cy="530352"/>
          </a:xfrm>
          <a:prstGeom prst="roundRect">
            <a:avLst>
              <a:gd name="adj" fmla="val 24138"/>
            </a:avLst>
          </a:prstGeom>
          <a:solidFill>
            <a:schemeClr val="accent2"/>
          </a:solidFill>
          <a:ln/>
        </p:spPr>
      </p:sp>
      <p:sp>
        <p:nvSpPr>
          <p:cNvPr id="24" name="text-200"/>
          <p:cNvSpPr txBox="1"/>
          <p:nvPr/>
        </p:nvSpPr>
        <p:spPr>
          <a:xfrm>
            <a:off x="8229600" y="5596128"/>
            <a:ext cx="3230575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ko-KR" altLang="en-US" sz="1200" b="1" dirty="0">
                <a:solidFill>
                  <a:schemeClr val="accent1"/>
                </a:solidFill>
              </a:rPr>
              <a:t>학생이 적은 답과 결과는 이 화면에 나오지 않습니다.</a:t>
            </a:r>
            <a:endParaRPr lang="ko-KR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364224"/>
            <a:ext cx="54864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3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329184"/>
            <a:ext cx="1109441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ko-KR" altLang="en-US" sz="1300" b="1" dirty="0">
                <a:solidFill>
                  <a:schemeClr val="accent1"/>
                </a:solidFill>
              </a:rPr>
              <a:t>개인정보 · 운영 원칙</a:t>
            </a:r>
            <a:endParaRPr lang="ko-KR" sz="13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603504"/>
            <a:ext cx="11094415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ko-KR" altLang="en-US" sz="3400" b="1" dirty="0">
                <a:solidFill>
                  <a:schemeClr val="tx1"/>
                </a:solidFill>
              </a:rPr>
              <a:t>학생 개인 결과는 학생의 것입니다</a:t>
            </a:r>
            <a:endParaRPr lang="ko-KR" sz="3400" dirty="0"/>
          </a:p>
        </p:txBody>
      </p:sp>
      <p:sp>
        <p:nvSpPr>
          <p:cNvPr id="4" name="card-201"/>
          <p:cNvSpPr/>
          <p:nvPr/>
        </p:nvSpPr>
        <p:spPr>
          <a:xfrm>
            <a:off x="548640" y="1600200"/>
            <a:ext cx="3484778" cy="2103120"/>
          </a:xfrm>
          <a:prstGeom prst="roundRect">
            <a:avLst>
              <a:gd name="adj" fmla="val 6087"/>
            </a:avLst>
          </a:prstGeom>
          <a:solidFill>
            <a:schemeClr val="bg1"/>
          </a:solidFill>
          <a:ln w="9525">
            <a:solidFill>
              <a:srgbClr val="E1E7F2"/>
            </a:solidFill>
            <a:prstDash val="solid"/>
          </a:ln>
          <a:effectLst>
            <a:outerShdw sx="100000" sy="100000" kx="0" ky="0" algn="bl" rotWithShape="0" blurRad="127000" dist="25400" dir="5400000">
              <a:srgbClr val="0B1B33">
                <a:alpha val="10000"/>
              </a:srgbClr>
            </a:outerShdw>
          </a:effectLst>
        </p:spPr>
      </p:sp>
      <p:sp>
        <p:nvSpPr>
          <p:cNvPr id="5" name="badge-202"/>
          <p:cNvSpPr/>
          <p:nvPr/>
        </p:nvSpPr>
        <p:spPr>
          <a:xfrm>
            <a:off x="804672" y="1856232"/>
            <a:ext cx="457200" cy="457200"/>
          </a:xfrm>
          <a:prstGeom prst="roundRect">
            <a:avLst>
              <a:gd name="adj" fmla="val 28000"/>
            </a:avLst>
          </a:prstGeom>
          <a:solidFill>
            <a:schemeClr val="accent1"/>
          </a:solidFill>
          <a:ln/>
        </p:spPr>
      </p:sp>
      <p:pic>
        <p:nvPicPr>
          <p:cNvPr id="6" name="icon-203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05256" y="1956816"/>
            <a:ext cx="256032" cy="256032"/>
          </a:xfrm>
          <a:prstGeom prst="rect">
            <a:avLst/>
          </a:prstGeom>
        </p:spPr>
      </p:pic>
      <p:sp>
        <p:nvSpPr>
          <p:cNvPr id="7" name="text-204"/>
          <p:cNvSpPr txBox="1"/>
          <p:nvPr/>
        </p:nvSpPr>
        <p:spPr>
          <a:xfrm>
            <a:off x="1417320" y="1856232"/>
            <a:ext cx="238749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ko-KR" altLang="en-US" sz="1600" b="1" dirty="0">
                <a:solidFill>
                  <a:schemeClr val="tx1"/>
                </a:solidFill>
              </a:rPr>
              <a:t>개인 응답·결과지 비공개</a:t>
            </a:r>
            <a:endParaRPr lang="ko-KR" sz="1600" dirty="0"/>
          </a:p>
        </p:txBody>
      </p:sp>
      <p:sp>
        <p:nvSpPr>
          <p:cNvPr id="8" name="text-205"/>
          <p:cNvSpPr txBox="1"/>
          <p:nvPr/>
        </p:nvSpPr>
        <p:spPr>
          <a:xfrm>
            <a:off x="804672" y="2468880"/>
            <a:ext cx="2972714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ko-KR" altLang="en-US" sz="1300" dirty="0">
                <a:solidFill>
                  <a:schemeClr val="accent3"/>
                </a:solidFill>
              </a:rPr>
              <a:t>담당자 화면과 내려받는 자료에 개별 답변이 없습니다. 개인 결과지는 본인 동의와 계약에 적힌 범위 안에서만 열립니다.</a:t>
            </a:r>
            <a:endParaRPr lang="ko-KR" sz="1300" dirty="0"/>
          </a:p>
        </p:txBody>
      </p:sp>
      <p:sp>
        <p:nvSpPr>
          <p:cNvPr id="9" name="card-206"/>
          <p:cNvSpPr/>
          <p:nvPr/>
        </p:nvSpPr>
        <p:spPr>
          <a:xfrm>
            <a:off x="4353458" y="1600200"/>
            <a:ext cx="3484778" cy="2103120"/>
          </a:xfrm>
          <a:prstGeom prst="roundRect">
            <a:avLst>
              <a:gd name="adj" fmla="val 6087"/>
            </a:avLst>
          </a:prstGeom>
          <a:solidFill>
            <a:schemeClr val="bg1"/>
          </a:solidFill>
          <a:ln w="9525">
            <a:solidFill>
              <a:srgbClr val="E1E7F2"/>
            </a:solidFill>
            <a:prstDash val="solid"/>
          </a:ln>
          <a:effectLst>
            <a:outerShdw sx="100000" sy="100000" kx="0" ky="0" algn="bl" rotWithShape="0" blurRad="127000" dist="25400" dir="5400000">
              <a:srgbClr val="0B1B33">
                <a:alpha val="10000"/>
              </a:srgbClr>
            </a:outerShdw>
          </a:effectLst>
        </p:spPr>
      </p:sp>
      <p:sp>
        <p:nvSpPr>
          <p:cNvPr id="10" name="badge-207"/>
          <p:cNvSpPr/>
          <p:nvPr/>
        </p:nvSpPr>
        <p:spPr>
          <a:xfrm>
            <a:off x="4609490" y="1856232"/>
            <a:ext cx="457200" cy="457200"/>
          </a:xfrm>
          <a:prstGeom prst="roundRect">
            <a:avLst>
              <a:gd name="adj" fmla="val 28000"/>
            </a:avLst>
          </a:prstGeom>
          <a:solidFill>
            <a:schemeClr val="accent1"/>
          </a:solidFill>
          <a:ln/>
        </p:spPr>
      </p:sp>
      <p:pic>
        <p:nvPicPr>
          <p:cNvPr id="11" name="icon-208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10074" y="1956816"/>
            <a:ext cx="256032" cy="256032"/>
          </a:xfrm>
          <a:prstGeom prst="rect">
            <a:avLst/>
          </a:prstGeom>
        </p:spPr>
      </p:pic>
      <p:sp>
        <p:nvSpPr>
          <p:cNvPr id="12" name="text-209"/>
          <p:cNvSpPr txBox="1"/>
          <p:nvPr/>
        </p:nvSpPr>
        <p:spPr>
          <a:xfrm>
            <a:off x="5222138" y="1856232"/>
            <a:ext cx="238749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ko-KR" altLang="en-US" sz="1600" b="1" dirty="0">
                <a:solidFill>
                  <a:schemeClr val="tx1"/>
                </a:solidFill>
              </a:rPr>
              <a:t>5명 미만 칸은 숫자 없음</a:t>
            </a:r>
            <a:endParaRPr lang="ko-KR" sz="1600" dirty="0"/>
          </a:p>
        </p:txBody>
      </p:sp>
      <p:sp>
        <p:nvSpPr>
          <p:cNvPr id="13" name="text-210"/>
          <p:cNvSpPr txBox="1"/>
          <p:nvPr/>
        </p:nvSpPr>
        <p:spPr>
          <a:xfrm>
            <a:off x="4609490" y="2468880"/>
            <a:ext cx="2972714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ko-KR" altLang="en-US" sz="1300" dirty="0">
                <a:solidFill>
                  <a:schemeClr val="accent3"/>
                </a:solidFill>
              </a:rPr>
              <a:t>사람이 5명이 안 되는 칸은 숫자를 만들지 않고 0으로도 적지 않습니다. 날짜 칸에도 같은 규칙을 씁니다.</a:t>
            </a:r>
            <a:endParaRPr lang="ko-KR" sz="1300" dirty="0"/>
          </a:p>
        </p:txBody>
      </p:sp>
      <p:sp>
        <p:nvSpPr>
          <p:cNvPr id="14" name="card-211"/>
          <p:cNvSpPr/>
          <p:nvPr/>
        </p:nvSpPr>
        <p:spPr>
          <a:xfrm>
            <a:off x="8158277" y="1600200"/>
            <a:ext cx="3484778" cy="2103120"/>
          </a:xfrm>
          <a:prstGeom prst="roundRect">
            <a:avLst>
              <a:gd name="adj" fmla="val 6087"/>
            </a:avLst>
          </a:prstGeom>
          <a:solidFill>
            <a:schemeClr val="bg1"/>
          </a:solidFill>
          <a:ln w="9525">
            <a:solidFill>
              <a:srgbClr val="E1E7F2"/>
            </a:solidFill>
            <a:prstDash val="solid"/>
          </a:ln>
          <a:effectLst>
            <a:outerShdw sx="100000" sy="100000" kx="0" ky="0" algn="bl" rotWithShape="0" blurRad="127000" dist="25400" dir="5400000">
              <a:srgbClr val="0B1B33">
                <a:alpha val="10000"/>
              </a:srgbClr>
            </a:outerShdw>
          </a:effectLst>
        </p:spPr>
      </p:sp>
      <p:sp>
        <p:nvSpPr>
          <p:cNvPr id="15" name="badge-212"/>
          <p:cNvSpPr/>
          <p:nvPr/>
        </p:nvSpPr>
        <p:spPr>
          <a:xfrm>
            <a:off x="8414309" y="1856232"/>
            <a:ext cx="457200" cy="457200"/>
          </a:xfrm>
          <a:prstGeom prst="roundRect">
            <a:avLst>
              <a:gd name="adj" fmla="val 28000"/>
            </a:avLst>
          </a:prstGeom>
          <a:solidFill>
            <a:schemeClr val="accent1"/>
          </a:solidFill>
          <a:ln/>
        </p:spPr>
      </p:sp>
      <p:pic>
        <p:nvPicPr>
          <p:cNvPr id="16" name="icon-213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14893" y="1956816"/>
            <a:ext cx="256032" cy="256032"/>
          </a:xfrm>
          <a:prstGeom prst="rect">
            <a:avLst/>
          </a:prstGeom>
        </p:spPr>
      </p:pic>
      <p:sp>
        <p:nvSpPr>
          <p:cNvPr id="17" name="text-214"/>
          <p:cNvSpPr txBox="1"/>
          <p:nvPr/>
        </p:nvSpPr>
        <p:spPr>
          <a:xfrm>
            <a:off x="9026957" y="1856232"/>
            <a:ext cx="238749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ko-KR" altLang="en-US" sz="1600" b="1" dirty="0">
                <a:solidFill>
                  <a:schemeClr val="tx1"/>
                </a:solidFill>
              </a:rPr>
              <a:t>학생을 줄 세우지 않음</a:t>
            </a:r>
            <a:endParaRPr lang="ko-KR" sz="1600" dirty="0"/>
          </a:p>
        </p:txBody>
      </p:sp>
      <p:sp>
        <p:nvSpPr>
          <p:cNvPr id="18" name="text-215"/>
          <p:cNvSpPr txBox="1"/>
          <p:nvPr/>
        </p:nvSpPr>
        <p:spPr>
          <a:xfrm>
            <a:off x="8414309" y="2468880"/>
            <a:ext cx="2972714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ko-KR" altLang="en-US" sz="1300" dirty="0">
                <a:solidFill>
                  <a:schemeClr val="accent3"/>
                </a:solidFill>
              </a:rPr>
              <a:t>등수, 백분위, 종합 점수, 대학 KPI, 합격 가능성을 만들지 않습니다.</a:t>
            </a:r>
            <a:endParaRPr lang="ko-KR" sz="1300" dirty="0"/>
          </a:p>
        </p:txBody>
      </p:sp>
      <p:sp>
        <p:nvSpPr>
          <p:cNvPr id="19" name="card-216"/>
          <p:cNvSpPr/>
          <p:nvPr/>
        </p:nvSpPr>
        <p:spPr>
          <a:xfrm>
            <a:off x="548640" y="3977640"/>
            <a:ext cx="3484778" cy="2103120"/>
          </a:xfrm>
          <a:prstGeom prst="roundRect">
            <a:avLst>
              <a:gd name="adj" fmla="val 6087"/>
            </a:avLst>
          </a:prstGeom>
          <a:solidFill>
            <a:schemeClr val="bg1"/>
          </a:solidFill>
          <a:ln w="9525">
            <a:solidFill>
              <a:srgbClr val="E1E7F2"/>
            </a:solidFill>
            <a:prstDash val="solid"/>
          </a:ln>
          <a:effectLst>
            <a:outerShdw sx="100000" sy="100000" kx="0" ky="0" algn="bl" rotWithShape="0" blurRad="127000" dist="25400" dir="5400000">
              <a:srgbClr val="0B1B33">
                <a:alpha val="10000"/>
              </a:srgbClr>
            </a:outerShdw>
          </a:effectLst>
        </p:spPr>
      </p:sp>
      <p:sp>
        <p:nvSpPr>
          <p:cNvPr id="20" name="badge-217"/>
          <p:cNvSpPr/>
          <p:nvPr/>
        </p:nvSpPr>
        <p:spPr>
          <a:xfrm>
            <a:off x="804672" y="4233672"/>
            <a:ext cx="457200" cy="457200"/>
          </a:xfrm>
          <a:prstGeom prst="roundRect">
            <a:avLst>
              <a:gd name="adj" fmla="val 28000"/>
            </a:avLst>
          </a:prstGeom>
          <a:solidFill>
            <a:schemeClr val="accent1"/>
          </a:solidFill>
          <a:ln/>
        </p:spPr>
      </p:sp>
      <p:pic>
        <p:nvPicPr>
          <p:cNvPr id="21" name="icon-218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05256" y="4334256"/>
            <a:ext cx="256032" cy="256032"/>
          </a:xfrm>
          <a:prstGeom prst="rect">
            <a:avLst/>
          </a:prstGeom>
        </p:spPr>
      </p:pic>
      <p:sp>
        <p:nvSpPr>
          <p:cNvPr id="22" name="text-219"/>
          <p:cNvSpPr txBox="1"/>
          <p:nvPr/>
        </p:nvSpPr>
        <p:spPr>
          <a:xfrm>
            <a:off x="1417320" y="4233672"/>
            <a:ext cx="238749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ko-KR" altLang="en-US" sz="1600" b="1" dirty="0">
                <a:solidFill>
                  <a:schemeClr val="tx1"/>
                </a:solidFill>
              </a:rPr>
              <a:t>응시 안내는 학교 경로로</a:t>
            </a:r>
            <a:endParaRPr lang="ko-KR" sz="1600" dirty="0"/>
          </a:p>
        </p:txBody>
      </p:sp>
      <p:sp>
        <p:nvSpPr>
          <p:cNvPr id="23" name="text-220"/>
          <p:cNvSpPr txBox="1"/>
          <p:nvPr/>
        </p:nvSpPr>
        <p:spPr>
          <a:xfrm>
            <a:off x="804672" y="4846320"/>
            <a:ext cx="2972714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ko-KR" altLang="en-US" sz="1300" dirty="0">
                <a:solidFill>
                  <a:schemeClr val="accent3"/>
                </a:solidFill>
              </a:rPr>
              <a:t>응시 독려 같은 학교 안내를 제품이 학생에게 직접 보내지 않습니다. 담당자가 명단을 받아 학교가 쓰는 길로 보냅니다.</a:t>
            </a:r>
            <a:endParaRPr lang="ko-KR" sz="1300" dirty="0"/>
          </a:p>
        </p:txBody>
      </p:sp>
      <p:sp>
        <p:nvSpPr>
          <p:cNvPr id="24" name="card-221"/>
          <p:cNvSpPr/>
          <p:nvPr/>
        </p:nvSpPr>
        <p:spPr>
          <a:xfrm>
            <a:off x="4353458" y="3977640"/>
            <a:ext cx="3484778" cy="2103120"/>
          </a:xfrm>
          <a:prstGeom prst="roundRect">
            <a:avLst>
              <a:gd name="adj" fmla="val 6087"/>
            </a:avLst>
          </a:prstGeom>
          <a:solidFill>
            <a:schemeClr val="bg1"/>
          </a:solidFill>
          <a:ln w="9525">
            <a:solidFill>
              <a:srgbClr val="E1E7F2"/>
            </a:solidFill>
            <a:prstDash val="solid"/>
          </a:ln>
          <a:effectLst>
            <a:outerShdw sx="100000" sy="100000" kx="0" ky="0" algn="bl" rotWithShape="0" blurRad="127000" dist="25400" dir="5400000">
              <a:srgbClr val="0B1B33">
                <a:alpha val="10000"/>
              </a:srgbClr>
            </a:outerShdw>
          </a:effectLst>
        </p:spPr>
      </p:sp>
      <p:sp>
        <p:nvSpPr>
          <p:cNvPr id="25" name="badge-222"/>
          <p:cNvSpPr/>
          <p:nvPr/>
        </p:nvSpPr>
        <p:spPr>
          <a:xfrm>
            <a:off x="4609490" y="4233672"/>
            <a:ext cx="457200" cy="457200"/>
          </a:xfrm>
          <a:prstGeom prst="roundRect">
            <a:avLst>
              <a:gd name="adj" fmla="val 28000"/>
            </a:avLst>
          </a:prstGeom>
          <a:solidFill>
            <a:schemeClr val="accent1"/>
          </a:solidFill>
          <a:ln/>
        </p:spPr>
      </p:sp>
      <p:pic>
        <p:nvPicPr>
          <p:cNvPr id="26" name="icon-223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710074" y="4334256"/>
            <a:ext cx="256032" cy="256032"/>
          </a:xfrm>
          <a:prstGeom prst="rect">
            <a:avLst/>
          </a:prstGeom>
        </p:spPr>
      </p:pic>
      <p:sp>
        <p:nvSpPr>
          <p:cNvPr id="27" name="text-224"/>
          <p:cNvSpPr txBox="1"/>
          <p:nvPr/>
        </p:nvSpPr>
        <p:spPr>
          <a:xfrm>
            <a:off x="5222138" y="4233672"/>
            <a:ext cx="238749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ko-KR" altLang="en-US" sz="1600" b="1" dirty="0">
                <a:solidFill>
                  <a:schemeClr val="tx1"/>
                </a:solidFill>
              </a:rPr>
              <a:t>법적 범위</a:t>
            </a:r>
            <a:endParaRPr lang="ko-KR" sz="1600" dirty="0"/>
          </a:p>
        </p:txBody>
      </p:sp>
      <p:sp>
        <p:nvSpPr>
          <p:cNvPr id="28" name="text-225"/>
          <p:cNvSpPr txBox="1"/>
          <p:nvPr/>
        </p:nvSpPr>
        <p:spPr>
          <a:xfrm>
            <a:off x="4609490" y="4846320"/>
            <a:ext cx="2972714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ko-KR" altLang="en-US" sz="1300" dirty="0">
                <a:solidFill>
                  <a:schemeClr val="accent3"/>
                </a:solidFill>
              </a:rPr>
              <a:t>직업정보제공사업 신고(J1700020220007호) 사업자입니다. 취업 알선이나 추천서 발급은 하지 않습니다.</a:t>
            </a:r>
            <a:endParaRPr lang="ko-KR" sz="1300" dirty="0"/>
          </a:p>
        </p:txBody>
      </p:sp>
      <p:sp>
        <p:nvSpPr>
          <p:cNvPr id="29" name="card-226"/>
          <p:cNvSpPr/>
          <p:nvPr/>
        </p:nvSpPr>
        <p:spPr>
          <a:xfrm>
            <a:off x="8158277" y="3977640"/>
            <a:ext cx="3484778" cy="2103120"/>
          </a:xfrm>
          <a:prstGeom prst="roundRect">
            <a:avLst>
              <a:gd name="adj" fmla="val 6087"/>
            </a:avLst>
          </a:prstGeom>
          <a:solidFill>
            <a:schemeClr val="bg2"/>
          </a:solidFill>
          <a:ln w="9525">
            <a:solidFill>
              <a:srgbClr val="E1E7F2"/>
            </a:solidFill>
            <a:prstDash val="solid"/>
          </a:ln>
          <a:effectLst>
            <a:outerShdw sx="100000" sy="100000" kx="0" ky="0" algn="bl" rotWithShape="0" blurRad="127000" dist="25400" dir="5400000">
              <a:srgbClr val="0B1B33">
                <a:alpha val="10000"/>
              </a:srgbClr>
            </a:outerShdw>
          </a:effectLst>
        </p:spPr>
      </p:sp>
      <p:sp>
        <p:nvSpPr>
          <p:cNvPr id="30" name="badge-227"/>
          <p:cNvSpPr/>
          <p:nvPr/>
        </p:nvSpPr>
        <p:spPr>
          <a:xfrm>
            <a:off x="8414309" y="4233672"/>
            <a:ext cx="457200" cy="457200"/>
          </a:xfrm>
          <a:prstGeom prst="roundRect">
            <a:avLst>
              <a:gd name="adj" fmla="val 28000"/>
            </a:avLst>
          </a:prstGeom>
          <a:solidFill>
            <a:schemeClr val="accent1"/>
          </a:solidFill>
          <a:ln/>
        </p:spPr>
      </p:sp>
      <p:pic>
        <p:nvPicPr>
          <p:cNvPr id="31" name="icon-228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514893" y="4334256"/>
            <a:ext cx="256032" cy="256032"/>
          </a:xfrm>
          <a:prstGeom prst="rect">
            <a:avLst/>
          </a:prstGeom>
        </p:spPr>
      </p:pic>
      <p:sp>
        <p:nvSpPr>
          <p:cNvPr id="32" name="text-229"/>
          <p:cNvSpPr txBox="1"/>
          <p:nvPr/>
        </p:nvSpPr>
        <p:spPr>
          <a:xfrm>
            <a:off x="9026957" y="4233672"/>
            <a:ext cx="238749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ko-KR" altLang="en-US" sz="1600" b="1" dirty="0">
                <a:solidFill>
                  <a:schemeClr val="tx1"/>
                </a:solidFill>
              </a:rPr>
              <a:t>지금 단계</a:t>
            </a:r>
            <a:endParaRPr lang="ko-KR" sz="1600" dirty="0"/>
          </a:p>
        </p:txBody>
      </p:sp>
      <p:sp>
        <p:nvSpPr>
          <p:cNvPr id="33" name="text-230"/>
          <p:cNvSpPr txBox="1"/>
          <p:nvPr/>
        </p:nvSpPr>
        <p:spPr>
          <a:xfrm>
            <a:off x="8414309" y="4846320"/>
            <a:ext cx="2972714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ko-KR" altLang="en-US" sz="1300" dirty="0">
                <a:solidFill>
                  <a:schemeClr val="accent3"/>
                </a:solidFill>
              </a:rPr>
              <a:t>컴퓨터·소프트웨어 Core는 전공자 검토 중입니다. 아직 규준이 없어 백분위를 내지 않습니다.</a:t>
            </a:r>
            <a:endParaRPr lang="ko-KR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364224"/>
            <a:ext cx="54864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3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329184"/>
            <a:ext cx="1109441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ko-KR" altLang="en-US" sz="1300" b="1" dirty="0">
                <a:solidFill>
                  <a:schemeClr val="accent1"/>
                </a:solidFill>
              </a:rPr>
              <a:t>선택 구독 · AI 취업비서</a:t>
            </a:r>
            <a:endParaRPr lang="ko-KR" sz="13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603504"/>
            <a:ext cx="11094415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ko-KR" altLang="en-US" sz="3400" b="1" dirty="0">
                <a:solidFill>
                  <a:schemeClr val="tx1"/>
                </a:solidFill>
              </a:rPr>
              <a:t>학생이 원할 때만 고르는 개인 상품입니다</a:t>
            </a:r>
            <a:endParaRPr lang="ko-KR" sz="3400" dirty="0"/>
          </a:p>
        </p:txBody>
      </p:sp>
      <p:sp>
        <p:nvSpPr>
          <p:cNvPr id="4" name="card-231"/>
          <p:cNvSpPr/>
          <p:nvPr/>
        </p:nvSpPr>
        <p:spPr>
          <a:xfrm>
            <a:off x="548640" y="1645920"/>
            <a:ext cx="2331720" cy="1463040"/>
          </a:xfrm>
          <a:prstGeom prst="roundRect">
            <a:avLst>
              <a:gd name="adj" fmla="val 8750"/>
            </a:avLst>
          </a:prstGeom>
          <a:solidFill>
            <a:schemeClr val="bg1"/>
          </a:solidFill>
          <a:ln w="9525">
            <a:solidFill>
              <a:srgbClr val="E1E7F2"/>
            </a:solidFill>
            <a:prstDash val="solid"/>
          </a:ln>
          <a:effectLst>
            <a:outerShdw sx="100000" sy="100000" kx="0" ky="0" algn="bl" rotWithShape="0" blurRad="127000" dist="25400" dir="5400000">
              <a:srgbClr val="0B1B33">
                <a:alpha val="10000"/>
              </a:srgbClr>
            </a:outerShdw>
          </a:effectLst>
        </p:spPr>
      </p:sp>
      <p:sp>
        <p:nvSpPr>
          <p:cNvPr id="5" name="text-232"/>
          <p:cNvSpPr txBox="1"/>
          <p:nvPr/>
        </p:nvSpPr>
        <p:spPr>
          <a:xfrm>
            <a:off x="822960" y="1847088"/>
            <a:ext cx="1783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ko-KR" altLang="en-US" sz="1400" b="1" dirty="0">
                <a:solidFill>
                  <a:schemeClr val="accent1"/>
                </a:solidFill>
              </a:rPr>
              <a:t>30일권</a:t>
            </a:r>
            <a:endParaRPr lang="ko-KR" sz="1400" dirty="0"/>
          </a:p>
        </p:txBody>
      </p:sp>
      <p:sp>
        <p:nvSpPr>
          <p:cNvPr id="6" name="text-233"/>
          <p:cNvSpPr txBox="1"/>
          <p:nvPr/>
        </p:nvSpPr>
        <p:spPr>
          <a:xfrm>
            <a:off x="822960" y="2148840"/>
            <a:ext cx="18745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ko-KR" altLang="en-US" sz="2800" b="1" dirty="0">
                <a:solidFill>
                  <a:schemeClr val="tx1"/>
                </a:solidFill>
              </a:rPr>
              <a:t>4,900원</a:t>
            </a:r>
            <a:endParaRPr lang="ko-KR" sz="2800" dirty="0"/>
          </a:p>
        </p:txBody>
      </p:sp>
      <p:sp>
        <p:nvSpPr>
          <p:cNvPr id="7" name="text-234"/>
          <p:cNvSpPr txBox="1"/>
          <p:nvPr/>
        </p:nvSpPr>
        <p:spPr>
          <a:xfrm>
            <a:off x="822960" y="2724912"/>
            <a:ext cx="1783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ko-KR" altLang="en-US" sz="1100" dirty="0">
                <a:solidFill>
                  <a:schemeClr val="accent3"/>
                </a:solidFill>
              </a:rPr>
              <a:t>한 번 결제 · 부가세 포함</a:t>
            </a:r>
            <a:endParaRPr lang="ko-KR" sz="1100" dirty="0"/>
          </a:p>
        </p:txBody>
      </p:sp>
      <p:sp>
        <p:nvSpPr>
          <p:cNvPr id="8" name="card-235"/>
          <p:cNvSpPr/>
          <p:nvPr/>
        </p:nvSpPr>
        <p:spPr>
          <a:xfrm>
            <a:off x="3154680" y="1645920"/>
            <a:ext cx="2331720" cy="1463040"/>
          </a:xfrm>
          <a:prstGeom prst="roundRect">
            <a:avLst>
              <a:gd name="adj" fmla="val 8750"/>
            </a:avLst>
          </a:prstGeom>
          <a:solidFill>
            <a:schemeClr val="tx1"/>
          </a:solidFill>
          <a:ln/>
          <a:effectLst>
            <a:outerShdw sx="100000" sy="100000" kx="0" ky="0" algn="bl" rotWithShape="0" blurRad="127000" dist="25400" dir="5400000">
              <a:srgbClr val="0B1B33">
                <a:alpha val="10000"/>
              </a:srgbClr>
            </a:outerShdw>
          </a:effectLst>
        </p:spPr>
      </p:sp>
      <p:sp>
        <p:nvSpPr>
          <p:cNvPr id="9" name="text-236"/>
          <p:cNvSpPr txBox="1"/>
          <p:nvPr/>
        </p:nvSpPr>
        <p:spPr>
          <a:xfrm>
            <a:off x="3429000" y="1847088"/>
            <a:ext cx="1783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ko-KR" altLang="en-US" sz="1400" b="1" dirty="0">
                <a:solidFill>
                  <a:schemeClr val="accent5"/>
                </a:solidFill>
              </a:rPr>
              <a:t>365일권</a:t>
            </a:r>
            <a:endParaRPr lang="ko-KR" sz="1400" dirty="0"/>
          </a:p>
        </p:txBody>
      </p:sp>
      <p:sp>
        <p:nvSpPr>
          <p:cNvPr id="10" name="text-237"/>
          <p:cNvSpPr txBox="1"/>
          <p:nvPr/>
        </p:nvSpPr>
        <p:spPr>
          <a:xfrm>
            <a:off x="3429000" y="2148840"/>
            <a:ext cx="18745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ko-KR" altLang="en-US" sz="2800" b="1" dirty="0">
                <a:solidFill>
                  <a:schemeClr val="bg1"/>
                </a:solidFill>
              </a:rPr>
              <a:t>39,000원</a:t>
            </a:r>
            <a:endParaRPr lang="ko-KR" sz="2800" dirty="0"/>
          </a:p>
        </p:txBody>
      </p:sp>
      <p:sp>
        <p:nvSpPr>
          <p:cNvPr id="11" name="text-238"/>
          <p:cNvSpPr txBox="1"/>
          <p:nvPr/>
        </p:nvSpPr>
        <p:spPr>
          <a:xfrm>
            <a:off x="3429000" y="2724912"/>
            <a:ext cx="1783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ko-KR" altLang="en-US" sz="1100" dirty="0">
                <a:solidFill>
                  <a:schemeClr val="accent5"/>
                </a:solidFill>
              </a:rPr>
              <a:t>한 번 결제 · 부가세 포함</a:t>
            </a:r>
            <a:endParaRPr lang="ko-KR" sz="1100" dirty="0"/>
          </a:p>
        </p:txBody>
      </p:sp>
      <p:sp>
        <p:nvSpPr>
          <p:cNvPr id="12" name="text-239"/>
          <p:cNvSpPr txBox="1"/>
          <p:nvPr/>
        </p:nvSpPr>
        <p:spPr>
          <a:xfrm>
            <a:off x="548640" y="3310128"/>
            <a:ext cx="49377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ko-KR" altLang="en-US" sz="1400" b="1" dirty="0">
                <a:solidFill>
                  <a:schemeClr val="tx1"/>
                </a:solidFill>
              </a:rPr>
              <a:t>자동 갱신 없음. 기간이 끝나면 저절로 닫히고 다시 결제되지 않습니다.</a:t>
            </a:r>
            <a:endParaRPr lang="ko-KR" sz="1400" dirty="0"/>
          </a:p>
        </p:txBody>
      </p:sp>
      <p:sp>
        <p:nvSpPr>
          <p:cNvPr id="13" name="card-240"/>
          <p:cNvSpPr/>
          <p:nvPr/>
        </p:nvSpPr>
        <p:spPr>
          <a:xfrm>
            <a:off x="548640" y="4114800"/>
            <a:ext cx="4937760" cy="868680"/>
          </a:xfrm>
          <a:prstGeom prst="roundRect">
            <a:avLst>
              <a:gd name="adj" fmla="val 14737"/>
            </a:avLst>
          </a:prstGeom>
          <a:solidFill>
            <a:schemeClr val="accent2"/>
          </a:solidFill>
          <a:ln/>
        </p:spPr>
      </p:sp>
      <p:sp>
        <p:nvSpPr>
          <p:cNvPr id="14" name="text-241"/>
          <p:cNvSpPr txBox="1"/>
          <p:nvPr/>
        </p:nvSpPr>
        <p:spPr>
          <a:xfrm>
            <a:off x="777240" y="4114800"/>
            <a:ext cx="44805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ko-KR" altLang="en-US" sz="1200" dirty="0">
                <a:solidFill>
                  <a:schemeClr val="tx1"/>
                </a:solidFill>
              </a:rPr>
              <a:t>학교 제공 범위(검사, 결과지, 경험 추가와 현재 상태 갱신)는 구독 없이 그대로 씁니다. 구독은 학생 개인이 결제합니다.</a:t>
            </a:r>
            <a:endParaRPr lang="ko-KR" sz="1200" dirty="0"/>
          </a:p>
        </p:txBody>
      </p:sp>
      <p:sp>
        <p:nvSpPr>
          <p:cNvPr id="15" name="card-242"/>
          <p:cNvSpPr/>
          <p:nvPr/>
        </p:nvSpPr>
        <p:spPr>
          <a:xfrm>
            <a:off x="548640" y="5166360"/>
            <a:ext cx="4937760" cy="868680"/>
          </a:xfrm>
          <a:prstGeom prst="roundRect">
            <a:avLst>
              <a:gd name="adj" fmla="val 14737"/>
            </a:avLst>
          </a:prstGeom>
          <a:solidFill>
            <a:schemeClr val="bg2"/>
          </a:solidFill>
          <a:ln/>
        </p:spPr>
      </p:sp>
      <p:sp>
        <p:nvSpPr>
          <p:cNvPr id="16" name="text-243"/>
          <p:cNvSpPr txBox="1"/>
          <p:nvPr/>
        </p:nvSpPr>
        <p:spPr>
          <a:xfrm>
            <a:off x="777240" y="5166360"/>
            <a:ext cx="44805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ko-KR" altLang="en-US" sz="1200" dirty="0">
                <a:solidFill>
                  <a:schemeClr val="tx1"/>
                </a:solidFill>
              </a:rPr>
              <a:t>AI 분석은 학생이 동의할 때만 켜집니다. 이름과 연락처는 보내지 않고, 끄면 규칙으로만 읽습니다.</a:t>
            </a:r>
            <a:endParaRPr lang="ko-KR" sz="1200" dirty="0"/>
          </a:p>
        </p:txBody>
      </p:sp>
      <p:sp>
        <p:nvSpPr>
          <p:cNvPr id="17" name="card-244"/>
          <p:cNvSpPr/>
          <p:nvPr/>
        </p:nvSpPr>
        <p:spPr>
          <a:xfrm>
            <a:off x="5897880" y="1645920"/>
            <a:ext cx="5745175" cy="4389120"/>
          </a:xfrm>
          <a:prstGeom prst="roundRect">
            <a:avLst>
              <a:gd name="adj" fmla="val 2917"/>
            </a:avLst>
          </a:prstGeom>
          <a:solidFill>
            <a:schemeClr val="bg1"/>
          </a:solidFill>
          <a:ln w="9525">
            <a:solidFill>
              <a:srgbClr val="E1E7F2"/>
            </a:solidFill>
            <a:prstDash val="solid"/>
          </a:ln>
          <a:effectLst>
            <a:outerShdw sx="100000" sy="100000" kx="0" ky="0" algn="bl" rotWithShape="0" blurRad="127000" dist="25400" dir="5400000">
              <a:srgbClr val="0B1B33">
                <a:alpha val="10000"/>
              </a:srgbClr>
            </a:outerShdw>
          </a:effectLst>
        </p:spPr>
      </p:sp>
      <p:sp>
        <p:nvSpPr>
          <p:cNvPr id="18" name="text-245"/>
          <p:cNvSpPr txBox="1"/>
          <p:nvPr/>
        </p:nvSpPr>
        <p:spPr>
          <a:xfrm>
            <a:off x="6217920" y="1901952"/>
            <a:ext cx="5105095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ko-KR" altLang="en-US" sz="1600" b="1" dirty="0">
                <a:solidFill>
                  <a:schemeClr val="tx1"/>
                </a:solidFill>
              </a:rPr>
              <a:t>구독하면 열리는 것</a:t>
            </a:r>
            <a:endParaRPr lang="ko-KR" sz="1600" dirty="0"/>
          </a:p>
        </p:txBody>
      </p:sp>
      <p:sp>
        <p:nvSpPr>
          <p:cNvPr id="19" name="badge-246"/>
          <p:cNvSpPr/>
          <p:nvPr/>
        </p:nvSpPr>
        <p:spPr>
          <a:xfrm>
            <a:off x="6217920" y="2423160"/>
            <a:ext cx="420624" cy="420624"/>
          </a:xfrm>
          <a:prstGeom prst="roundRect">
            <a:avLst>
              <a:gd name="adj" fmla="val 28000"/>
            </a:avLst>
          </a:prstGeom>
          <a:solidFill>
            <a:schemeClr val="accent1"/>
          </a:solidFill>
          <a:ln/>
        </p:spPr>
      </p:sp>
      <p:pic>
        <p:nvPicPr>
          <p:cNvPr id="20" name="icon-247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310457" y="2515697"/>
            <a:ext cx="235549" cy="235549"/>
          </a:xfrm>
          <a:prstGeom prst="rect">
            <a:avLst/>
          </a:prstGeom>
        </p:spPr>
      </p:pic>
      <p:sp>
        <p:nvSpPr>
          <p:cNvPr id="21" name="text-248"/>
          <p:cNvSpPr txBox="1"/>
          <p:nvPr/>
        </p:nvSpPr>
        <p:spPr>
          <a:xfrm>
            <a:off x="6812280" y="2395728"/>
            <a:ext cx="451073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ko-KR" altLang="en-US" sz="1500" b="1" dirty="0">
                <a:solidFill>
                  <a:schemeClr val="tx1"/>
                </a:solidFill>
              </a:rPr>
              <a:t>매주 할 일 · 마감 알림</a:t>
            </a:r>
            <a:endParaRPr lang="ko-KR" sz="1500" dirty="0"/>
          </a:p>
        </p:txBody>
      </p:sp>
      <p:sp>
        <p:nvSpPr>
          <p:cNvPr id="22" name="text-249"/>
          <p:cNvSpPr txBox="1"/>
          <p:nvPr/>
        </p:nvSpPr>
        <p:spPr>
          <a:xfrm>
            <a:off x="6812280" y="2697480"/>
            <a:ext cx="451073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ko-KR" altLang="en-US" sz="1200" dirty="0">
                <a:solidFill>
                  <a:schemeClr val="accent3"/>
                </a:solidFill>
              </a:rPr>
              <a:t>이번 주 할 일 하나와 저장한 공고의 마감까지 남은 날을 알려 줍니다.</a:t>
            </a:r>
            <a:endParaRPr lang="ko-KR" sz="1200" dirty="0"/>
          </a:p>
        </p:txBody>
      </p:sp>
      <p:sp>
        <p:nvSpPr>
          <p:cNvPr id="23" name="badge-250"/>
          <p:cNvSpPr/>
          <p:nvPr/>
        </p:nvSpPr>
        <p:spPr>
          <a:xfrm>
            <a:off x="6217920" y="3227832"/>
            <a:ext cx="420624" cy="420624"/>
          </a:xfrm>
          <a:prstGeom prst="roundRect">
            <a:avLst>
              <a:gd name="adj" fmla="val 28000"/>
            </a:avLst>
          </a:prstGeom>
          <a:solidFill>
            <a:schemeClr val="accent1"/>
          </a:solidFill>
          <a:ln/>
        </p:spPr>
      </p:sp>
      <p:pic>
        <p:nvPicPr>
          <p:cNvPr id="24" name="icon-25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10457" y="3320369"/>
            <a:ext cx="235549" cy="235549"/>
          </a:xfrm>
          <a:prstGeom prst="rect">
            <a:avLst/>
          </a:prstGeom>
        </p:spPr>
      </p:pic>
      <p:sp>
        <p:nvSpPr>
          <p:cNvPr id="25" name="text-252"/>
          <p:cNvSpPr txBox="1"/>
          <p:nvPr/>
        </p:nvSpPr>
        <p:spPr>
          <a:xfrm>
            <a:off x="6812280" y="3200400"/>
            <a:ext cx="451073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ko-KR" altLang="en-US" sz="1500" b="1" dirty="0">
                <a:solidFill>
                  <a:schemeClr val="tx1"/>
                </a:solidFill>
              </a:rPr>
              <a:t>경험 채우기 도움</a:t>
            </a:r>
            <a:endParaRPr lang="ko-KR" sz="1500" dirty="0"/>
          </a:p>
        </p:txBody>
      </p:sp>
      <p:sp>
        <p:nvSpPr>
          <p:cNvPr id="26" name="text-253"/>
          <p:cNvSpPr txBox="1"/>
          <p:nvPr/>
        </p:nvSpPr>
        <p:spPr>
          <a:xfrm>
            <a:off x="6812280" y="3502152"/>
            <a:ext cx="451073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ko-KR" altLang="en-US" sz="1200" dirty="0">
                <a:solidFill>
                  <a:schemeClr val="accent3"/>
                </a:solidFill>
              </a:rPr>
              <a:t>편하게 적은 메모를 경험 추가 화면의 보기로 옮겨 줍니다. 저장은 학생이 직접 합니다.</a:t>
            </a:r>
            <a:endParaRPr lang="ko-KR" sz="1200" dirty="0"/>
          </a:p>
        </p:txBody>
      </p:sp>
      <p:sp>
        <p:nvSpPr>
          <p:cNvPr id="27" name="badge-254"/>
          <p:cNvSpPr/>
          <p:nvPr/>
        </p:nvSpPr>
        <p:spPr>
          <a:xfrm>
            <a:off x="6217920" y="4032504"/>
            <a:ext cx="420624" cy="420624"/>
          </a:xfrm>
          <a:prstGeom prst="roundRect">
            <a:avLst>
              <a:gd name="adj" fmla="val 28000"/>
            </a:avLst>
          </a:prstGeom>
          <a:solidFill>
            <a:schemeClr val="accent1"/>
          </a:solidFill>
          <a:ln/>
        </p:spPr>
      </p:sp>
      <p:pic>
        <p:nvPicPr>
          <p:cNvPr id="28" name="icon-255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10457" y="4125041"/>
            <a:ext cx="235549" cy="235549"/>
          </a:xfrm>
          <a:prstGeom prst="rect">
            <a:avLst/>
          </a:prstGeom>
        </p:spPr>
      </p:pic>
      <p:sp>
        <p:nvSpPr>
          <p:cNvPr id="29" name="text-256"/>
          <p:cNvSpPr txBox="1"/>
          <p:nvPr/>
        </p:nvSpPr>
        <p:spPr>
          <a:xfrm>
            <a:off x="6812280" y="4005072"/>
            <a:ext cx="451073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ko-KR" altLang="en-US" sz="1500" b="1" dirty="0">
                <a:solidFill>
                  <a:schemeClr val="tx1"/>
                </a:solidFill>
              </a:rPr>
              <a:t>저장한 공고와 내 경험 비교</a:t>
            </a:r>
            <a:endParaRPr lang="ko-KR" sz="1500" dirty="0"/>
          </a:p>
        </p:txBody>
      </p:sp>
      <p:sp>
        <p:nvSpPr>
          <p:cNvPr id="30" name="text-257"/>
          <p:cNvSpPr txBox="1"/>
          <p:nvPr/>
        </p:nvSpPr>
        <p:spPr>
          <a:xfrm>
            <a:off x="6812280" y="4306824"/>
            <a:ext cx="451073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ko-KR" altLang="en-US" sz="1200" dirty="0">
                <a:solidFill>
                  <a:schemeClr val="accent3"/>
                </a:solidFill>
              </a:rPr>
              <a:t>학생이 찾은 공고를 붙여 넣으면 요구 항목마다 내 경험이 있는지 나눠 줍니다.</a:t>
            </a:r>
            <a:endParaRPr lang="ko-KR" sz="1200" dirty="0"/>
          </a:p>
        </p:txBody>
      </p:sp>
      <p:sp>
        <p:nvSpPr>
          <p:cNvPr id="31" name="badge-258"/>
          <p:cNvSpPr/>
          <p:nvPr/>
        </p:nvSpPr>
        <p:spPr>
          <a:xfrm>
            <a:off x="6217920" y="4837176"/>
            <a:ext cx="420624" cy="420624"/>
          </a:xfrm>
          <a:prstGeom prst="roundRect">
            <a:avLst>
              <a:gd name="adj" fmla="val 28000"/>
            </a:avLst>
          </a:prstGeom>
          <a:solidFill>
            <a:schemeClr val="accent1"/>
          </a:solidFill>
          <a:ln/>
        </p:spPr>
      </p:sp>
      <p:pic>
        <p:nvPicPr>
          <p:cNvPr id="32" name="icon-259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10457" y="4929713"/>
            <a:ext cx="235549" cy="235549"/>
          </a:xfrm>
          <a:prstGeom prst="rect">
            <a:avLst/>
          </a:prstGeom>
        </p:spPr>
      </p:pic>
      <p:sp>
        <p:nvSpPr>
          <p:cNvPr id="33" name="text-260"/>
          <p:cNvSpPr txBox="1"/>
          <p:nvPr/>
        </p:nvSpPr>
        <p:spPr>
          <a:xfrm>
            <a:off x="6812280" y="4809744"/>
            <a:ext cx="451073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ko-KR" altLang="en-US" sz="1500" b="1" dirty="0">
                <a:solidFill>
                  <a:schemeClr val="tx1"/>
                </a:solidFill>
              </a:rPr>
              <a:t>관심 산업·직무 바꿔 다시 비교</a:t>
            </a:r>
            <a:endParaRPr lang="ko-KR" sz="1500" dirty="0"/>
          </a:p>
        </p:txBody>
      </p:sp>
      <p:sp>
        <p:nvSpPr>
          <p:cNvPr id="34" name="text-261"/>
          <p:cNvSpPr txBox="1"/>
          <p:nvPr/>
        </p:nvSpPr>
        <p:spPr>
          <a:xfrm>
            <a:off x="6812280" y="5111496"/>
            <a:ext cx="451073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ko-KR" altLang="en-US" sz="1200" dirty="0">
                <a:solidFill>
                  <a:schemeClr val="accent3"/>
                </a:solidFill>
              </a:rPr>
              <a:t>산업과 직무를 둘씩 골라 그쪽 기준으로 내 경험을 다시 봅니다.</a:t>
            </a:r>
            <a:endParaRPr lang="ko-KR" sz="1200" dirty="0"/>
          </a:p>
        </p:txBody>
      </p:sp>
      <p:sp>
        <p:nvSpPr>
          <p:cNvPr id="35" name="text-262"/>
          <p:cNvSpPr txBox="1"/>
          <p:nvPr/>
        </p:nvSpPr>
        <p:spPr>
          <a:xfrm>
            <a:off x="6217920" y="5605272"/>
            <a:ext cx="510509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ko-KR" altLang="en-US" sz="1300" b="1" dirty="0">
                <a:solidFill>
                  <a:schemeClr val="accent1"/>
                </a:solidFill>
              </a:rPr>
              <a:t>준비 중  </a:t>
            </a:r>
            <a:pPr indent="0" marL="0">
              <a:buNone/>
            </a:pPr>
            <a:r>
              <a:rPr lang="ko-KR" altLang="en-US" sz="1300" dirty="0">
                <a:solidFill>
                  <a:schemeClr val="accent3"/>
                </a:solidFill>
              </a:rPr>
              <a:t>달라진 것만 모은 월간 변화 리포트</a:t>
            </a:r>
            <a:endParaRPr lang="ko-KR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364224"/>
            <a:ext cx="54864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3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13</a:t>
            </a:fld>
            <a:endParaRPr 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329184"/>
            <a:ext cx="1109441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ko-KR" altLang="en-US" sz="1300" b="1" dirty="0">
                <a:solidFill>
                  <a:schemeClr val="accent1"/>
                </a:solidFill>
              </a:rPr>
              <a:t>시범 운영 제안</a:t>
            </a:r>
            <a:endParaRPr lang="ko-KR" sz="13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603504"/>
            <a:ext cx="11094415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ko-KR" altLang="en-US" sz="3400" b="1" dirty="0">
                <a:solidFill>
                  <a:schemeClr val="tx1"/>
                </a:solidFill>
              </a:rPr>
              <a:t>한 기수로 작게 시작해 보시면 어떨까요</a:t>
            </a:r>
            <a:endParaRPr lang="ko-KR" sz="3400" dirty="0"/>
          </a:p>
        </p:txBody>
      </p:sp>
      <p:sp>
        <p:nvSpPr>
          <p:cNvPr id="4" name="card-263"/>
          <p:cNvSpPr/>
          <p:nvPr/>
        </p:nvSpPr>
        <p:spPr>
          <a:xfrm>
            <a:off x="548640" y="1691640"/>
            <a:ext cx="2014057" cy="2606040"/>
          </a:xfrm>
          <a:prstGeom prst="roundRect">
            <a:avLst>
              <a:gd name="adj" fmla="val 6356"/>
            </a:avLst>
          </a:prstGeom>
          <a:solidFill>
            <a:schemeClr val="bg1"/>
          </a:solidFill>
          <a:ln w="9525">
            <a:solidFill>
              <a:srgbClr val="E1E7F2"/>
            </a:solidFill>
            <a:prstDash val="solid"/>
          </a:ln>
          <a:effectLst>
            <a:outerShdw sx="100000" sy="100000" kx="0" ky="0" algn="bl" rotWithShape="0" blurRad="127000" dist="25400" dir="5400000">
              <a:srgbClr val="0B1B33">
                <a:alpha val="10000"/>
              </a:srgbClr>
            </a:outerShdw>
          </a:effectLst>
        </p:spPr>
      </p:sp>
      <p:sp>
        <p:nvSpPr>
          <p:cNvPr id="5" name="badge-264"/>
          <p:cNvSpPr/>
          <p:nvPr/>
        </p:nvSpPr>
        <p:spPr>
          <a:xfrm>
            <a:off x="777240" y="1947672"/>
            <a:ext cx="475488" cy="475488"/>
          </a:xfrm>
          <a:prstGeom prst="roundRect">
            <a:avLst>
              <a:gd name="adj" fmla="val 28000"/>
            </a:avLst>
          </a:prstGeom>
          <a:solidFill>
            <a:schemeClr val="accent1"/>
          </a:solidFill>
          <a:ln/>
        </p:spPr>
      </p:sp>
      <p:sp>
        <p:nvSpPr>
          <p:cNvPr id="6" name="badge-num-265"/>
          <p:cNvSpPr txBox="1"/>
          <p:nvPr/>
        </p:nvSpPr>
        <p:spPr>
          <a:xfrm>
            <a:off x="777240" y="1947672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ko-KR" altLang="en-US" sz="1700" b="1" dirty="0">
                <a:solidFill>
                  <a:schemeClr val="bg1"/>
                </a:solidFill>
              </a:rPr>
              <a:t>1</a:t>
            </a:r>
            <a:endParaRPr lang="ko-KR" sz="1700" dirty="0"/>
          </a:p>
        </p:txBody>
      </p:sp>
      <p:sp>
        <p:nvSpPr>
          <p:cNvPr id="7" name="text-266"/>
          <p:cNvSpPr txBox="1"/>
          <p:nvPr/>
        </p:nvSpPr>
        <p:spPr>
          <a:xfrm>
            <a:off x="777240" y="2606040"/>
            <a:ext cx="1556857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ko-KR" altLang="en-US" sz="1700" b="1" dirty="0">
                <a:solidFill>
                  <a:schemeClr val="tx1"/>
                </a:solidFill>
              </a:rPr>
              <a:t>범위 정하기</a:t>
            </a:r>
            <a:endParaRPr lang="ko-KR" sz="1700" dirty="0"/>
          </a:p>
        </p:txBody>
      </p:sp>
      <p:sp>
        <p:nvSpPr>
          <p:cNvPr id="8" name="text-267"/>
          <p:cNvSpPr txBox="1"/>
          <p:nvPr/>
        </p:nvSpPr>
        <p:spPr>
          <a:xfrm>
            <a:off x="777240" y="3044952"/>
            <a:ext cx="1602577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ko-KR" altLang="en-US" sz="1400" dirty="0">
                <a:solidFill>
                  <a:schemeClr val="accent3"/>
                </a:solidFill>
              </a:rPr>
              <a:t>인공지능학부와 부트캠프사업단 1개 기수</a:t>
            </a:r>
            <a:endParaRPr lang="ko-KR" sz="1400" dirty="0"/>
          </a:p>
        </p:txBody>
      </p:sp>
      <p:sp>
        <p:nvSpPr>
          <p:cNvPr id="9" name="card-268"/>
          <p:cNvSpPr/>
          <p:nvPr/>
        </p:nvSpPr>
        <p:spPr>
          <a:xfrm>
            <a:off x="2818729" y="1691640"/>
            <a:ext cx="2014057" cy="2606040"/>
          </a:xfrm>
          <a:prstGeom prst="roundRect">
            <a:avLst>
              <a:gd name="adj" fmla="val 6356"/>
            </a:avLst>
          </a:prstGeom>
          <a:solidFill>
            <a:schemeClr val="bg1"/>
          </a:solidFill>
          <a:ln w="9525">
            <a:solidFill>
              <a:srgbClr val="E1E7F2"/>
            </a:solidFill>
            <a:prstDash val="solid"/>
          </a:ln>
          <a:effectLst>
            <a:outerShdw sx="100000" sy="100000" kx="0" ky="0" algn="bl" rotWithShape="0" blurRad="127000" dist="25400" dir="5400000">
              <a:srgbClr val="0B1B33">
                <a:alpha val="10000"/>
              </a:srgbClr>
            </a:outerShdw>
          </a:effectLst>
        </p:spPr>
      </p:sp>
      <p:sp>
        <p:nvSpPr>
          <p:cNvPr id="10" name="badge-269"/>
          <p:cNvSpPr/>
          <p:nvPr/>
        </p:nvSpPr>
        <p:spPr>
          <a:xfrm>
            <a:off x="3047329" y="1947672"/>
            <a:ext cx="475488" cy="475488"/>
          </a:xfrm>
          <a:prstGeom prst="roundRect">
            <a:avLst>
              <a:gd name="adj" fmla="val 28000"/>
            </a:avLst>
          </a:prstGeom>
          <a:solidFill>
            <a:schemeClr val="accent1"/>
          </a:solidFill>
          <a:ln/>
        </p:spPr>
      </p:sp>
      <p:sp>
        <p:nvSpPr>
          <p:cNvPr id="11" name="badge-num-270"/>
          <p:cNvSpPr txBox="1"/>
          <p:nvPr/>
        </p:nvSpPr>
        <p:spPr>
          <a:xfrm>
            <a:off x="3047329" y="1947672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ko-KR" altLang="en-US" sz="1700" b="1" dirty="0">
                <a:solidFill>
                  <a:schemeClr val="bg1"/>
                </a:solidFill>
              </a:rPr>
              <a:t>2</a:t>
            </a:r>
            <a:endParaRPr lang="ko-KR" sz="1700" dirty="0"/>
          </a:p>
        </p:txBody>
      </p:sp>
      <p:sp>
        <p:nvSpPr>
          <p:cNvPr id="12" name="text-271"/>
          <p:cNvSpPr txBox="1"/>
          <p:nvPr/>
        </p:nvSpPr>
        <p:spPr>
          <a:xfrm>
            <a:off x="3047329" y="2606040"/>
            <a:ext cx="1556857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ko-KR" altLang="en-US" sz="1700" b="1" dirty="0">
                <a:solidFill>
                  <a:schemeClr val="tx1"/>
                </a:solidFill>
              </a:rPr>
              <a:t>담당자 계정</a:t>
            </a:r>
            <a:endParaRPr lang="ko-KR" sz="1700" dirty="0"/>
          </a:p>
        </p:txBody>
      </p:sp>
      <p:sp>
        <p:nvSpPr>
          <p:cNvPr id="13" name="text-272"/>
          <p:cNvSpPr txBox="1"/>
          <p:nvPr/>
        </p:nvSpPr>
        <p:spPr>
          <a:xfrm>
            <a:off x="3047329" y="3044952"/>
            <a:ext cx="1602577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ko-KR" altLang="en-US" sz="1400" dirty="0">
                <a:solidFill>
                  <a:schemeClr val="accent3"/>
                </a:solidFill>
              </a:rPr>
              <a:t>교수님과 사업단 담당자 계정을 발급합니다</a:t>
            </a:r>
            <a:endParaRPr lang="ko-KR" sz="1400" dirty="0"/>
          </a:p>
        </p:txBody>
      </p:sp>
      <p:sp>
        <p:nvSpPr>
          <p:cNvPr id="14" name="card-273"/>
          <p:cNvSpPr/>
          <p:nvPr/>
        </p:nvSpPr>
        <p:spPr>
          <a:xfrm>
            <a:off x="5088819" y="1691640"/>
            <a:ext cx="2014057" cy="2606040"/>
          </a:xfrm>
          <a:prstGeom prst="roundRect">
            <a:avLst>
              <a:gd name="adj" fmla="val 6356"/>
            </a:avLst>
          </a:prstGeom>
          <a:solidFill>
            <a:schemeClr val="bg1"/>
          </a:solidFill>
          <a:ln w="9525">
            <a:solidFill>
              <a:srgbClr val="E1E7F2"/>
            </a:solidFill>
            <a:prstDash val="solid"/>
          </a:ln>
          <a:effectLst>
            <a:outerShdw sx="100000" sy="100000" kx="0" ky="0" algn="bl" rotWithShape="0" blurRad="127000" dist="25400" dir="5400000">
              <a:srgbClr val="0B1B33">
                <a:alpha val="10000"/>
              </a:srgbClr>
            </a:outerShdw>
          </a:effectLst>
        </p:spPr>
      </p:sp>
      <p:sp>
        <p:nvSpPr>
          <p:cNvPr id="15" name="badge-274"/>
          <p:cNvSpPr/>
          <p:nvPr/>
        </p:nvSpPr>
        <p:spPr>
          <a:xfrm>
            <a:off x="5317419" y="1947672"/>
            <a:ext cx="475488" cy="475488"/>
          </a:xfrm>
          <a:prstGeom prst="roundRect">
            <a:avLst>
              <a:gd name="adj" fmla="val 28000"/>
            </a:avLst>
          </a:prstGeom>
          <a:solidFill>
            <a:schemeClr val="accent1"/>
          </a:solidFill>
          <a:ln/>
        </p:spPr>
      </p:sp>
      <p:sp>
        <p:nvSpPr>
          <p:cNvPr id="16" name="badge-num-275"/>
          <p:cNvSpPr txBox="1"/>
          <p:nvPr/>
        </p:nvSpPr>
        <p:spPr>
          <a:xfrm>
            <a:off x="5317419" y="1947672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ko-KR" altLang="en-US" sz="1700" b="1" dirty="0">
                <a:solidFill>
                  <a:schemeClr val="bg1"/>
                </a:solidFill>
              </a:rPr>
              <a:t>3</a:t>
            </a:r>
            <a:endParaRPr lang="ko-KR" sz="1700" dirty="0"/>
          </a:p>
        </p:txBody>
      </p:sp>
      <p:sp>
        <p:nvSpPr>
          <p:cNvPr id="17" name="text-276"/>
          <p:cNvSpPr txBox="1"/>
          <p:nvPr/>
        </p:nvSpPr>
        <p:spPr>
          <a:xfrm>
            <a:off x="5317419" y="2606040"/>
            <a:ext cx="1556857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ko-KR" altLang="en-US" sz="1700" b="1" dirty="0">
                <a:solidFill>
                  <a:schemeClr val="tx1"/>
                </a:solidFill>
              </a:rPr>
              <a:t>학생 응시</a:t>
            </a:r>
            <a:endParaRPr lang="ko-KR" sz="1700" dirty="0"/>
          </a:p>
        </p:txBody>
      </p:sp>
      <p:sp>
        <p:nvSpPr>
          <p:cNvPr id="18" name="text-277"/>
          <p:cNvSpPr txBox="1"/>
          <p:nvPr/>
        </p:nvSpPr>
        <p:spPr>
          <a:xfrm>
            <a:off x="5317419" y="3044952"/>
            <a:ext cx="1602577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ko-KR" altLang="en-US" sz="1400" dirty="0">
                <a:solidFill>
                  <a:schemeClr val="accent3"/>
                </a:solidFill>
              </a:rPr>
              <a:t>CSV로 계정을 만들고 학교 경로로 안내합니다</a:t>
            </a:r>
            <a:endParaRPr lang="ko-KR" sz="1400" dirty="0"/>
          </a:p>
        </p:txBody>
      </p:sp>
      <p:sp>
        <p:nvSpPr>
          <p:cNvPr id="19" name="card-278"/>
          <p:cNvSpPr/>
          <p:nvPr/>
        </p:nvSpPr>
        <p:spPr>
          <a:xfrm>
            <a:off x="7358908" y="1691640"/>
            <a:ext cx="2014057" cy="2606040"/>
          </a:xfrm>
          <a:prstGeom prst="roundRect">
            <a:avLst>
              <a:gd name="adj" fmla="val 6356"/>
            </a:avLst>
          </a:prstGeom>
          <a:solidFill>
            <a:schemeClr val="bg1"/>
          </a:solidFill>
          <a:ln w="9525">
            <a:solidFill>
              <a:srgbClr val="E1E7F2"/>
            </a:solidFill>
            <a:prstDash val="solid"/>
          </a:ln>
          <a:effectLst>
            <a:outerShdw sx="100000" sy="100000" kx="0" ky="0" algn="bl" rotWithShape="0" blurRad="127000" dist="25400" dir="5400000">
              <a:srgbClr val="0B1B33">
                <a:alpha val="10000"/>
              </a:srgbClr>
            </a:outerShdw>
          </a:effectLst>
        </p:spPr>
      </p:sp>
      <p:sp>
        <p:nvSpPr>
          <p:cNvPr id="20" name="badge-279"/>
          <p:cNvSpPr/>
          <p:nvPr/>
        </p:nvSpPr>
        <p:spPr>
          <a:xfrm>
            <a:off x="7587508" y="1947672"/>
            <a:ext cx="475488" cy="475488"/>
          </a:xfrm>
          <a:prstGeom prst="roundRect">
            <a:avLst>
              <a:gd name="adj" fmla="val 28000"/>
            </a:avLst>
          </a:prstGeom>
          <a:solidFill>
            <a:schemeClr val="accent1"/>
          </a:solidFill>
          <a:ln/>
        </p:spPr>
      </p:sp>
      <p:sp>
        <p:nvSpPr>
          <p:cNvPr id="21" name="badge-num-280"/>
          <p:cNvSpPr txBox="1"/>
          <p:nvPr/>
        </p:nvSpPr>
        <p:spPr>
          <a:xfrm>
            <a:off x="7587508" y="1947672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ko-KR" altLang="en-US" sz="1700" b="1" dirty="0">
                <a:solidFill>
                  <a:schemeClr val="bg1"/>
                </a:solidFill>
              </a:rPr>
              <a:t>4</a:t>
            </a:r>
            <a:endParaRPr lang="ko-KR" sz="1700" dirty="0"/>
          </a:p>
        </p:txBody>
      </p:sp>
      <p:sp>
        <p:nvSpPr>
          <p:cNvPr id="22" name="text-281"/>
          <p:cNvSpPr txBox="1"/>
          <p:nvPr/>
        </p:nvSpPr>
        <p:spPr>
          <a:xfrm>
            <a:off x="7587508" y="2606040"/>
            <a:ext cx="1556857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ko-KR" altLang="en-US" sz="1700" b="1" dirty="0">
                <a:solidFill>
                  <a:schemeClr val="tx1"/>
                </a:solidFill>
              </a:rPr>
              <a:t>집계 리포트</a:t>
            </a:r>
            <a:endParaRPr lang="ko-KR" sz="1700" dirty="0"/>
          </a:p>
        </p:txBody>
      </p:sp>
      <p:sp>
        <p:nvSpPr>
          <p:cNvPr id="23" name="text-282"/>
          <p:cNvSpPr txBox="1"/>
          <p:nvPr/>
        </p:nvSpPr>
        <p:spPr>
          <a:xfrm>
            <a:off x="7587508" y="3044952"/>
            <a:ext cx="1602577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ko-KR" altLang="en-US" sz="1400" dirty="0">
                <a:solidFill>
                  <a:schemeClr val="accent3"/>
                </a:solidFill>
              </a:rPr>
              <a:t>학과별 진행 현황과 대학 운영 요약 PDF</a:t>
            </a:r>
            <a:endParaRPr lang="ko-KR" sz="1400" dirty="0"/>
          </a:p>
        </p:txBody>
      </p:sp>
      <p:sp>
        <p:nvSpPr>
          <p:cNvPr id="24" name="card-283"/>
          <p:cNvSpPr/>
          <p:nvPr/>
        </p:nvSpPr>
        <p:spPr>
          <a:xfrm>
            <a:off x="9628998" y="1691640"/>
            <a:ext cx="2014057" cy="2606040"/>
          </a:xfrm>
          <a:prstGeom prst="roundRect">
            <a:avLst>
              <a:gd name="adj" fmla="val 6356"/>
            </a:avLst>
          </a:prstGeom>
          <a:solidFill>
            <a:schemeClr val="bg1"/>
          </a:solidFill>
          <a:ln w="9525">
            <a:solidFill>
              <a:srgbClr val="E1E7F2"/>
            </a:solidFill>
            <a:prstDash val="solid"/>
          </a:ln>
          <a:effectLst>
            <a:outerShdw sx="100000" sy="100000" kx="0" ky="0" algn="bl" rotWithShape="0" blurRad="127000" dist="25400" dir="5400000">
              <a:srgbClr val="0B1B33">
                <a:alpha val="10000"/>
              </a:srgbClr>
            </a:outerShdw>
          </a:effectLst>
        </p:spPr>
      </p:sp>
      <p:sp>
        <p:nvSpPr>
          <p:cNvPr id="25" name="badge-284"/>
          <p:cNvSpPr/>
          <p:nvPr/>
        </p:nvSpPr>
        <p:spPr>
          <a:xfrm>
            <a:off x="9857598" y="1947672"/>
            <a:ext cx="475488" cy="475488"/>
          </a:xfrm>
          <a:prstGeom prst="roundRect">
            <a:avLst>
              <a:gd name="adj" fmla="val 28000"/>
            </a:avLst>
          </a:prstGeom>
          <a:solidFill>
            <a:schemeClr val="accent1"/>
          </a:solidFill>
          <a:ln/>
        </p:spPr>
      </p:sp>
      <p:sp>
        <p:nvSpPr>
          <p:cNvPr id="26" name="badge-num-285"/>
          <p:cNvSpPr txBox="1"/>
          <p:nvPr/>
        </p:nvSpPr>
        <p:spPr>
          <a:xfrm>
            <a:off x="9857598" y="1947672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ko-KR" altLang="en-US" sz="1700" b="1" dirty="0">
                <a:solidFill>
                  <a:schemeClr val="bg1"/>
                </a:solidFill>
              </a:rPr>
              <a:t>5</a:t>
            </a:r>
            <a:endParaRPr lang="ko-KR" sz="1700" dirty="0"/>
          </a:p>
        </p:txBody>
      </p:sp>
      <p:sp>
        <p:nvSpPr>
          <p:cNvPr id="27" name="text-286"/>
          <p:cNvSpPr txBox="1"/>
          <p:nvPr/>
        </p:nvSpPr>
        <p:spPr>
          <a:xfrm>
            <a:off x="9857598" y="2606040"/>
            <a:ext cx="1556857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ko-KR" altLang="en-US" sz="1700" b="1" dirty="0">
                <a:solidFill>
                  <a:schemeClr val="tx1"/>
                </a:solidFill>
              </a:rPr>
              <a:t>피드백</a:t>
            </a:r>
            <a:endParaRPr lang="ko-KR" sz="1700" dirty="0"/>
          </a:p>
        </p:txBody>
      </p:sp>
      <p:sp>
        <p:nvSpPr>
          <p:cNvPr id="28" name="text-287"/>
          <p:cNvSpPr txBox="1"/>
          <p:nvPr/>
        </p:nvSpPr>
        <p:spPr>
          <a:xfrm>
            <a:off x="9857598" y="3044952"/>
            <a:ext cx="1602577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ko-KR" altLang="en-US" sz="1400" dirty="0">
                <a:solidFill>
                  <a:schemeClr val="accent3"/>
                </a:solidFill>
              </a:rPr>
              <a:t>문항, 결과지, 담당자 화면 의견을 받아 고칩니다</a:t>
            </a:r>
            <a:endParaRPr lang="ko-KR" sz="1400" dirty="0"/>
          </a:p>
        </p:txBody>
      </p:sp>
      <p:sp>
        <p:nvSpPr>
          <p:cNvPr id="29" name="card-288"/>
          <p:cNvSpPr/>
          <p:nvPr/>
        </p:nvSpPr>
        <p:spPr>
          <a:xfrm>
            <a:off x="548640" y="4617720"/>
            <a:ext cx="3484778" cy="1325880"/>
          </a:xfrm>
          <a:prstGeom prst="roundRect">
            <a:avLst>
              <a:gd name="adj" fmla="val 9655"/>
            </a:avLst>
          </a:prstGeom>
          <a:solidFill>
            <a:schemeClr val="tx1"/>
          </a:solidFill>
          <a:ln/>
        </p:spPr>
      </p:sp>
      <p:sp>
        <p:nvSpPr>
          <p:cNvPr id="30" name="text-289"/>
          <p:cNvSpPr txBox="1"/>
          <p:nvPr/>
        </p:nvSpPr>
        <p:spPr>
          <a:xfrm>
            <a:off x="822960" y="4846320"/>
            <a:ext cx="293613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ko-KR" altLang="en-US" sz="1300" b="1" dirty="0">
                <a:solidFill>
                  <a:schemeClr val="accent5"/>
                </a:solidFill>
              </a:rPr>
              <a:t>대상</a:t>
            </a:r>
            <a:endParaRPr lang="ko-KR" sz="1300" dirty="0"/>
          </a:p>
        </p:txBody>
      </p:sp>
      <p:sp>
        <p:nvSpPr>
          <p:cNvPr id="31" name="text-290"/>
          <p:cNvSpPr txBox="1"/>
          <p:nvPr/>
        </p:nvSpPr>
        <p:spPr>
          <a:xfrm>
            <a:off x="822960" y="5184648"/>
            <a:ext cx="2936138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ko-KR" altLang="en-US" sz="1600" b="1" dirty="0">
                <a:solidFill>
                  <a:schemeClr val="bg1"/>
                </a:solidFill>
              </a:rPr>
              <a:t>인공지능학부 + 부트캠프사업단 1개 기수</a:t>
            </a:r>
            <a:endParaRPr lang="ko-KR" sz="1600" dirty="0"/>
          </a:p>
        </p:txBody>
      </p:sp>
      <p:sp>
        <p:nvSpPr>
          <p:cNvPr id="32" name="card-291"/>
          <p:cNvSpPr/>
          <p:nvPr/>
        </p:nvSpPr>
        <p:spPr>
          <a:xfrm>
            <a:off x="4353458" y="4617720"/>
            <a:ext cx="3484778" cy="1325880"/>
          </a:xfrm>
          <a:prstGeom prst="roundRect">
            <a:avLst>
              <a:gd name="adj" fmla="val 9655"/>
            </a:avLst>
          </a:prstGeom>
          <a:solidFill>
            <a:schemeClr val="bg2"/>
          </a:solidFill>
          <a:ln/>
        </p:spPr>
      </p:sp>
      <p:sp>
        <p:nvSpPr>
          <p:cNvPr id="33" name="text-292"/>
          <p:cNvSpPr txBox="1"/>
          <p:nvPr/>
        </p:nvSpPr>
        <p:spPr>
          <a:xfrm>
            <a:off x="4627778" y="4846320"/>
            <a:ext cx="293613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ko-KR" altLang="en-US" sz="1300" b="1" dirty="0">
                <a:solidFill>
                  <a:schemeClr val="accent1"/>
                </a:solidFill>
              </a:rPr>
              <a:t>일정</a:t>
            </a:r>
            <a:endParaRPr lang="ko-KR" sz="1300" dirty="0"/>
          </a:p>
        </p:txBody>
      </p:sp>
      <p:sp>
        <p:nvSpPr>
          <p:cNvPr id="34" name="text-293"/>
          <p:cNvSpPr txBox="1"/>
          <p:nvPr/>
        </p:nvSpPr>
        <p:spPr>
          <a:xfrm>
            <a:off x="4627778" y="5184648"/>
            <a:ext cx="2936138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ko-KR" altLang="en-US" sz="2400" b="1" dirty="0">
                <a:solidFill>
                  <a:schemeClr val="tx1"/>
                </a:solidFill>
              </a:rPr>
              <a:t>협의</a:t>
            </a:r>
            <a:endParaRPr lang="ko-KR" sz="2400" dirty="0"/>
          </a:p>
        </p:txBody>
      </p:sp>
      <p:sp>
        <p:nvSpPr>
          <p:cNvPr id="35" name="card-294"/>
          <p:cNvSpPr/>
          <p:nvPr/>
        </p:nvSpPr>
        <p:spPr>
          <a:xfrm>
            <a:off x="8158277" y="4617720"/>
            <a:ext cx="3484778" cy="1325880"/>
          </a:xfrm>
          <a:prstGeom prst="roundRect">
            <a:avLst>
              <a:gd name="adj" fmla="val 9655"/>
            </a:avLst>
          </a:prstGeom>
          <a:solidFill>
            <a:schemeClr val="bg2"/>
          </a:solidFill>
          <a:ln/>
        </p:spPr>
      </p:sp>
      <p:sp>
        <p:nvSpPr>
          <p:cNvPr id="36" name="text-295"/>
          <p:cNvSpPr txBox="1"/>
          <p:nvPr/>
        </p:nvSpPr>
        <p:spPr>
          <a:xfrm>
            <a:off x="8432597" y="4846320"/>
            <a:ext cx="293613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ko-KR" altLang="en-US" sz="1300" b="1" dirty="0">
                <a:solidFill>
                  <a:schemeClr val="accent1"/>
                </a:solidFill>
              </a:rPr>
              <a:t>비용</a:t>
            </a:r>
            <a:endParaRPr lang="ko-KR" sz="1300" dirty="0"/>
          </a:p>
        </p:txBody>
      </p:sp>
      <p:sp>
        <p:nvSpPr>
          <p:cNvPr id="37" name="text-296"/>
          <p:cNvSpPr txBox="1"/>
          <p:nvPr/>
        </p:nvSpPr>
        <p:spPr>
          <a:xfrm>
            <a:off x="8432597" y="5184648"/>
            <a:ext cx="2936138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ko-KR" altLang="en-US" sz="2400" b="1" dirty="0">
                <a:solidFill>
                  <a:schemeClr val="tx1"/>
                </a:solidFill>
              </a:rPr>
              <a:t>협의</a:t>
            </a:r>
            <a:endParaRPr lang="ko-KR" sz="2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364224"/>
            <a:ext cx="54864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3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14</a:t>
            </a:fld>
            <a:endParaRPr lang="en-US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329184"/>
            <a:ext cx="1109441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ko-KR" altLang="en-US" sz="1300" b="1" dirty="0">
                <a:solidFill>
                  <a:schemeClr val="accent5"/>
                </a:solidFill>
              </a:rPr>
              <a:t>다음 단계</a:t>
            </a:r>
            <a:endParaRPr lang="ko-KR" sz="13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603504"/>
            <a:ext cx="11094415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ko-KR" altLang="en-US" sz="3400" b="1" dirty="0">
                <a:solidFill>
                  <a:schemeClr val="bg1"/>
                </a:solidFill>
              </a:rPr>
              <a:t>오늘 여쭙고 싶은 것</a:t>
            </a:r>
            <a:endParaRPr lang="ko-KR" sz="3400" dirty="0"/>
          </a:p>
        </p:txBody>
      </p:sp>
      <p:sp>
        <p:nvSpPr>
          <p:cNvPr id="4" name="badge-297"/>
          <p:cNvSpPr/>
          <p:nvPr/>
        </p:nvSpPr>
        <p:spPr>
          <a:xfrm>
            <a:off x="548640" y="1691640"/>
            <a:ext cx="457200" cy="457200"/>
          </a:xfrm>
          <a:prstGeom prst="roundRect">
            <a:avLst>
              <a:gd name="adj" fmla="val 28000"/>
            </a:avLst>
          </a:prstGeom>
          <a:solidFill>
            <a:schemeClr val="accent1"/>
          </a:solidFill>
          <a:ln/>
        </p:spPr>
      </p:sp>
      <p:sp>
        <p:nvSpPr>
          <p:cNvPr id="5" name="badge-num-298"/>
          <p:cNvSpPr txBox="1"/>
          <p:nvPr/>
        </p:nvSpPr>
        <p:spPr>
          <a:xfrm>
            <a:off x="548640" y="16916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ko-KR" altLang="en-US" sz="1600" b="1" dirty="0">
                <a:solidFill>
                  <a:schemeClr val="bg1"/>
                </a:solidFill>
              </a:rPr>
              <a:t>1</a:t>
            </a:r>
            <a:endParaRPr lang="ko-KR" sz="1600" dirty="0"/>
          </a:p>
        </p:txBody>
      </p:sp>
      <p:sp>
        <p:nvSpPr>
          <p:cNvPr id="6" name="text-299"/>
          <p:cNvSpPr txBox="1"/>
          <p:nvPr/>
        </p:nvSpPr>
        <p:spPr>
          <a:xfrm>
            <a:off x="1234440" y="1691640"/>
            <a:ext cx="60350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ko-KR" altLang="en-US" sz="1600" dirty="0">
                <a:solidFill>
                  <a:schemeClr val="bg1"/>
                </a:solidFill>
              </a:rPr>
              <a:t>시범 범위와 기수: 인공지능학부와 부트캠프사업단을 함께 할지</a:t>
            </a:r>
            <a:endParaRPr lang="ko-KR" sz="1600" dirty="0"/>
          </a:p>
        </p:txBody>
      </p:sp>
      <p:sp>
        <p:nvSpPr>
          <p:cNvPr id="7" name="badge-300"/>
          <p:cNvSpPr/>
          <p:nvPr/>
        </p:nvSpPr>
        <p:spPr>
          <a:xfrm>
            <a:off x="548640" y="2560320"/>
            <a:ext cx="457200" cy="457200"/>
          </a:xfrm>
          <a:prstGeom prst="roundRect">
            <a:avLst>
              <a:gd name="adj" fmla="val 28000"/>
            </a:avLst>
          </a:prstGeom>
          <a:solidFill>
            <a:schemeClr val="accent1"/>
          </a:solidFill>
          <a:ln/>
        </p:spPr>
      </p:sp>
      <p:sp>
        <p:nvSpPr>
          <p:cNvPr id="8" name="badge-num-301"/>
          <p:cNvSpPr txBox="1"/>
          <p:nvPr/>
        </p:nvSpPr>
        <p:spPr>
          <a:xfrm>
            <a:off x="548640" y="25603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ko-KR" altLang="en-US" sz="1600" b="1" dirty="0">
                <a:solidFill>
                  <a:schemeClr val="bg1"/>
                </a:solidFill>
              </a:rPr>
              <a:t>2</a:t>
            </a:r>
            <a:endParaRPr lang="ko-KR" sz="1600" dirty="0"/>
          </a:p>
        </p:txBody>
      </p:sp>
      <p:sp>
        <p:nvSpPr>
          <p:cNvPr id="9" name="text-302"/>
          <p:cNvSpPr txBox="1"/>
          <p:nvPr/>
        </p:nvSpPr>
        <p:spPr>
          <a:xfrm>
            <a:off x="1234440" y="2560320"/>
            <a:ext cx="60350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ko-KR" altLang="en-US" sz="1600" dirty="0">
                <a:solidFill>
                  <a:schemeClr val="bg1"/>
                </a:solidFill>
              </a:rPr>
              <a:t>인공지능학부의 정식 이름과 소속 단과대학</a:t>
            </a:r>
            <a:endParaRPr lang="ko-KR" sz="1600" dirty="0"/>
          </a:p>
        </p:txBody>
      </p:sp>
      <p:sp>
        <p:nvSpPr>
          <p:cNvPr id="10" name="badge-303"/>
          <p:cNvSpPr/>
          <p:nvPr/>
        </p:nvSpPr>
        <p:spPr>
          <a:xfrm>
            <a:off x="548640" y="3429000"/>
            <a:ext cx="457200" cy="457200"/>
          </a:xfrm>
          <a:prstGeom prst="roundRect">
            <a:avLst>
              <a:gd name="adj" fmla="val 28000"/>
            </a:avLst>
          </a:prstGeom>
          <a:solidFill>
            <a:schemeClr val="accent1"/>
          </a:solidFill>
          <a:ln/>
        </p:spPr>
      </p:sp>
      <p:sp>
        <p:nvSpPr>
          <p:cNvPr id="11" name="badge-num-304"/>
          <p:cNvSpPr txBox="1"/>
          <p:nvPr/>
        </p:nvSpPr>
        <p:spPr>
          <a:xfrm>
            <a:off x="548640" y="34290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ko-KR" altLang="en-US" sz="1600" b="1" dirty="0">
                <a:solidFill>
                  <a:schemeClr val="bg1"/>
                </a:solidFill>
              </a:rPr>
              <a:t>3</a:t>
            </a:r>
            <a:endParaRPr lang="ko-KR" sz="1600" dirty="0"/>
          </a:p>
        </p:txBody>
      </p:sp>
      <p:sp>
        <p:nvSpPr>
          <p:cNvPr id="12" name="text-305"/>
          <p:cNvSpPr txBox="1"/>
          <p:nvPr/>
        </p:nvSpPr>
        <p:spPr>
          <a:xfrm>
            <a:off x="1234440" y="3429000"/>
            <a:ext cx="60350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ko-KR" altLang="en-US" sz="1600" dirty="0">
                <a:solidFill>
                  <a:schemeClr val="bg1"/>
                </a:solidFill>
              </a:rPr>
              <a:t>부트캠프 참여 학생 명단을 사업단과 소속 학과 중 어디서 발급하는지</a:t>
            </a:r>
            <a:endParaRPr lang="ko-KR" sz="1600" dirty="0"/>
          </a:p>
        </p:txBody>
      </p:sp>
      <p:sp>
        <p:nvSpPr>
          <p:cNvPr id="13" name="badge-306"/>
          <p:cNvSpPr/>
          <p:nvPr/>
        </p:nvSpPr>
        <p:spPr>
          <a:xfrm>
            <a:off x="548640" y="4297680"/>
            <a:ext cx="457200" cy="457200"/>
          </a:xfrm>
          <a:prstGeom prst="roundRect">
            <a:avLst>
              <a:gd name="adj" fmla="val 28000"/>
            </a:avLst>
          </a:prstGeom>
          <a:solidFill>
            <a:schemeClr val="accent1"/>
          </a:solidFill>
          <a:ln/>
        </p:spPr>
      </p:sp>
      <p:sp>
        <p:nvSpPr>
          <p:cNvPr id="14" name="badge-num-307"/>
          <p:cNvSpPr txBox="1"/>
          <p:nvPr/>
        </p:nvSpPr>
        <p:spPr>
          <a:xfrm>
            <a:off x="548640" y="42976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ko-KR" altLang="en-US" sz="1600" b="1" dirty="0">
                <a:solidFill>
                  <a:schemeClr val="bg1"/>
                </a:solidFill>
              </a:rPr>
              <a:t>4</a:t>
            </a:r>
            <a:endParaRPr lang="ko-KR" sz="1600" dirty="0"/>
          </a:p>
        </p:txBody>
      </p:sp>
      <p:sp>
        <p:nvSpPr>
          <p:cNvPr id="15" name="text-308"/>
          <p:cNvSpPr txBox="1"/>
          <p:nvPr/>
        </p:nvSpPr>
        <p:spPr>
          <a:xfrm>
            <a:off x="1234440" y="4297680"/>
            <a:ext cx="60350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ko-KR" altLang="en-US" sz="1600" dirty="0">
                <a:solidFill>
                  <a:schemeClr val="bg1"/>
                </a:solidFill>
              </a:rPr>
              <a:t>담당자로 등록할 교수님·사업단 실무자</a:t>
            </a:r>
            <a:endParaRPr lang="ko-KR" sz="1600" dirty="0"/>
          </a:p>
        </p:txBody>
      </p:sp>
      <p:sp>
        <p:nvSpPr>
          <p:cNvPr id="16" name="card-309"/>
          <p:cNvSpPr/>
          <p:nvPr/>
        </p:nvSpPr>
        <p:spPr>
          <a:xfrm>
            <a:off x="7635240" y="1691640"/>
            <a:ext cx="4007815" cy="3657600"/>
          </a:xfrm>
          <a:prstGeom prst="roundRect">
            <a:avLst>
              <a:gd name="adj" fmla="val 3500"/>
            </a:avLst>
          </a:prstGeom>
          <a:solidFill>
            <a:schemeClr val="accent4"/>
          </a:solidFill>
          <a:ln/>
        </p:spPr>
      </p:sp>
      <p:sp>
        <p:nvSpPr>
          <p:cNvPr id="17" name="text-310"/>
          <p:cNvSpPr txBox="1"/>
          <p:nvPr/>
        </p:nvSpPr>
        <p:spPr>
          <a:xfrm>
            <a:off x="7955280" y="1965960"/>
            <a:ext cx="336773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ko-KR" altLang="en-US" sz="1200" b="1" dirty="0">
                <a:solidFill>
                  <a:schemeClr val="accent5"/>
                </a:solidFill>
              </a:rPr>
              <a:t>주소</a:t>
            </a:r>
            <a:endParaRPr lang="ko-KR" sz="1200" dirty="0"/>
          </a:p>
        </p:txBody>
      </p:sp>
      <p:sp>
        <p:nvSpPr>
          <p:cNvPr id="18" name="text-311"/>
          <p:cNvSpPr txBox="1"/>
          <p:nvPr/>
        </p:nvSpPr>
        <p:spPr>
          <a:xfrm>
            <a:off x="7955280" y="2286000"/>
            <a:ext cx="3367735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ko-KR" altLang="en-US" sz="1300" dirty="0">
                <a:solidFill>
                  <a:schemeClr val="accent5"/>
                </a:solidFill>
              </a:rPr>
              <a:t>학생 입구 (시범 운영 시작 때 엽니다)</a:t>
            </a:r>
            <a:endParaRPr lang="ko-KR" sz="1300" dirty="0"/>
          </a:p>
          <a:p>
            <a:pPr indent="0" marL="0">
              <a:lnSpc>
                <a:spcPct val="125000"/>
              </a:lnSpc>
              <a:buNone/>
            </a:pPr>
            <a:r>
              <a:rPr lang="ko-KR" altLang="en-US" sz="1300" b="1" dirty="0">
                <a:solidFill>
                  <a:schemeClr val="bg1"/>
                </a:solidFill>
              </a:rPr>
              <a:t>app.careermatri.com/campus/jju</a:t>
            </a:r>
            <a:endParaRPr lang="ko-KR" sz="1300" dirty="0"/>
          </a:p>
          <a:p>
            <a:pPr indent="0" marL="0">
              <a:lnSpc>
                <a:spcPct val="125000"/>
              </a:lnSpc>
              <a:buNone/>
            </a:pPr>
            <a:r>
              <a:rPr lang="ko-KR" altLang="en-US" sz="1300" dirty="0">
                <a:solidFill>
                  <a:schemeClr val="accent5"/>
                </a:solidFill>
              </a:rPr>
              <a:t>담당자 로그인</a:t>
            </a:r>
            <a:endParaRPr lang="ko-KR" sz="1300" dirty="0"/>
          </a:p>
          <a:p>
            <a:pPr indent="0" marL="0">
              <a:lnSpc>
                <a:spcPct val="125000"/>
              </a:lnSpc>
              <a:buNone/>
            </a:pPr>
            <a:r>
              <a:rPr lang="ko-KR" altLang="en-US" sz="1300" b="1" dirty="0">
                <a:solidFill>
                  <a:schemeClr val="bg1"/>
                </a:solidFill>
              </a:rPr>
              <a:t>app.careermatri.com/login</a:t>
            </a:r>
            <a:endParaRPr lang="ko-KR" sz="1300" dirty="0"/>
          </a:p>
        </p:txBody>
      </p:sp>
      <p:sp>
        <p:nvSpPr>
          <p:cNvPr id="19" name="text-312"/>
          <p:cNvSpPr txBox="1"/>
          <p:nvPr/>
        </p:nvSpPr>
        <p:spPr>
          <a:xfrm>
            <a:off x="7955280" y="3703320"/>
            <a:ext cx="336773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ko-KR" altLang="en-US" sz="1200" b="1" dirty="0">
                <a:solidFill>
                  <a:schemeClr val="accent5"/>
                </a:solidFill>
              </a:rPr>
              <a:t>연락처</a:t>
            </a:r>
            <a:endParaRPr lang="ko-KR" sz="1200" dirty="0"/>
          </a:p>
        </p:txBody>
      </p:sp>
      <p:sp>
        <p:nvSpPr>
          <p:cNvPr id="20" name="text-313"/>
          <p:cNvSpPr txBox="1"/>
          <p:nvPr/>
        </p:nvSpPr>
        <p:spPr>
          <a:xfrm>
            <a:off x="7955280" y="4023360"/>
            <a:ext cx="3367735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ko-KR" altLang="en-US" sz="1400" b="1" dirty="0">
                <a:solidFill>
                  <a:schemeClr val="bg1"/>
                </a:solidFill>
              </a:rPr>
              <a:t>주식회사 에이치에이연구원</a:t>
            </a:r>
            <a:endParaRPr lang="ko-KR" sz="1400" dirty="0"/>
          </a:p>
          <a:p>
            <a:pPr indent="0" marL="0">
              <a:lnSpc>
                <a:spcPct val="125000"/>
              </a:lnSpc>
              <a:buNone/>
            </a:pPr>
            <a:r>
              <a:rPr lang="ko-KR" altLang="en-US" sz="1400" dirty="0">
                <a:solidFill>
                  <a:schemeClr val="bg1"/>
                </a:solidFill>
              </a:rPr>
              <a:t>044-867-7211</a:t>
            </a:r>
            <a:endParaRPr lang="ko-KR" sz="1400" dirty="0"/>
          </a:p>
          <a:p>
            <a:pPr indent="0" marL="0">
              <a:lnSpc>
                <a:spcPct val="125000"/>
              </a:lnSpc>
              <a:buNone/>
            </a:pPr>
            <a:r>
              <a:rPr lang="ko-KR" altLang="en-US" sz="1400" dirty="0">
                <a:solidFill>
                  <a:schemeClr val="bg1"/>
                </a:solidFill>
              </a:rPr>
              <a:t>hari_info@hari.re.kr</a:t>
            </a:r>
            <a:endParaRPr lang="ko-KR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364224"/>
            <a:ext cx="54864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15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CareerMatri">
  <a:themeElements>
    <a:clrScheme name="CareerMatri">
      <a:dk1>
        <a:srgbClr val="0B1B33"/>
      </a:dk1>
      <a:lt1>
        <a:srgbClr val="FFFFFF"/>
      </a:lt1>
      <a:dk2>
        <a:srgbClr val="1C3157"/>
      </a:dk2>
      <a:lt2>
        <a:srgbClr val="F3F6FB"/>
      </a:lt2>
      <a:accent1>
        <a:srgbClr val="2F6BFF"/>
      </a:accent1>
      <a:accent2>
        <a:srgbClr val="E8EFFF"/>
      </a:accent2>
      <a:accent3>
        <a:srgbClr val="5B6B85"/>
      </a:accent3>
      <a:accent4>
        <a:srgbClr val="13284A"/>
      </a:accent4>
      <a:accent5>
        <a:srgbClr val="9DB8FF"/>
      </a:accent5>
      <a:accent6>
        <a:srgbClr val="0F9D74"/>
      </a:accent6>
      <a:hlink>
        <a:srgbClr val="2F6BFF"/>
      </a:hlink>
      <a:folHlink>
        <a:srgbClr val="1E4FD0"/>
      </a:folHlink>
    </a:clrScheme>
    <a:fontScheme name="CareerMatri">
      <a:majorFont>
        <a:latin typeface="Malgun Gothic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Malgun Gothic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15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</vt:vector>
  </TitlesOfParts>
  <Company>주식회사 에이치에이연구원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CareerMatri × 전주대학교 소개</dc:title>
  <dc:subject>PptxGenJS Presentation</dc:subject>
  <dc:creator>주식회사 에이치에이연구원</dc:creator>
  <cp:lastModifiedBy>주식회사 에이치에이연구원</cp:lastModifiedBy>
  <cp:revision>1</cp:revision>
  <dcterms:created xsi:type="dcterms:W3CDTF">2026-10-21T01:28:43Z</dcterms:created>
  <dcterms:modified xsi:type="dcterms:W3CDTF">2026-10-21T01:28:43Z</dcterms:modified>
</cp:coreProperties>
</file>